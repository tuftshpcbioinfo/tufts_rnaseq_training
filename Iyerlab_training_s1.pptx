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5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C_74E424C1.xml" ContentType="application/vnd.ms-powerpoint.comments+xml"/>
  <Override PartName="/ppt/notesSlides/notesSlide11.xml" ContentType="application/vnd.openxmlformats-officedocument.presentationml.notesSlide+xml"/>
  <Override PartName="/ppt/comments/modernComment_10D_74E424C1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7" r:id="rId4"/>
    <p:sldMasterId id="2147483701" r:id="rId5"/>
    <p:sldMasterId id="2147483720" r:id="rId6"/>
  </p:sldMasterIdLst>
  <p:notesMasterIdLst>
    <p:notesMasterId r:id="rId39"/>
  </p:notesMasterIdLst>
  <p:sldIdLst>
    <p:sldId id="257" r:id="rId7"/>
    <p:sldId id="258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5" r:id="rId19"/>
    <p:sldId id="276" r:id="rId20"/>
    <p:sldId id="277" r:id="rId21"/>
    <p:sldId id="278" r:id="rId22"/>
    <p:sldId id="285" r:id="rId23"/>
    <p:sldId id="286" r:id="rId24"/>
    <p:sldId id="327" r:id="rId25"/>
    <p:sldId id="313" r:id="rId26"/>
    <p:sldId id="321" r:id="rId27"/>
    <p:sldId id="326" r:id="rId28"/>
    <p:sldId id="328" r:id="rId29"/>
    <p:sldId id="315" r:id="rId30"/>
    <p:sldId id="317" r:id="rId31"/>
    <p:sldId id="320" r:id="rId32"/>
    <p:sldId id="329" r:id="rId33"/>
    <p:sldId id="330" r:id="rId34"/>
    <p:sldId id="331" r:id="rId35"/>
    <p:sldId id="332" r:id="rId36"/>
    <p:sldId id="333" r:id="rId37"/>
    <p:sldId id="33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01155D-D0C1-402B-68DF-D86472C11D49}" name="Madeline Logan" initials="ML" userId="uO2P3QRxRjLi8uGrns8xxFbumnpet/1CZ6R56MkVvQk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72AE"/>
    <a:srgbClr val="3E8EDE"/>
    <a:srgbClr val="0090E5"/>
    <a:srgbClr val="20374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75DBF-1625-463A-9B92-6F41455A23B0}" v="320" dt="2026-05-20T02:22:08.644"/>
    <p1510:client id="{F912979D-20A2-461A-8232-619D5BCDDC6C}" v="180" dt="2026-05-19T21:23:03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04"/>
    <p:restoredTop sz="86370"/>
  </p:normalViewPr>
  <p:slideViewPr>
    <p:cSldViewPr snapToGrid="0" snapToObjects="1">
      <p:cViewPr varScale="1">
        <p:scale>
          <a:sx n="92" d="100"/>
          <a:sy n="92" d="100"/>
        </p:scale>
        <p:origin x="200" y="5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microsoft.com/office/2018/10/relationships/authors" Target="authors.xml"/><Relationship Id="rId20" Type="http://schemas.openxmlformats.org/officeDocument/2006/relationships/slide" Target="slides/slide14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eline Logan" userId="uO2P3QRxRjLi8uGrns8xxFbumnpet/1CZ6R56MkVvQk=" providerId="None" clId="Web-{15375DBF-1625-463A-9B92-6F41455A23B0}"/>
    <pc:docChg chg="mod modSld">
      <pc:chgData name="Madeline Logan" userId="uO2P3QRxRjLi8uGrns8xxFbumnpet/1CZ6R56MkVvQk=" providerId="None" clId="Web-{15375DBF-1625-463A-9B92-6F41455A23B0}" dt="2026-05-20T02:22:06.909" v="267" actId="20577"/>
      <pc:docMkLst>
        <pc:docMk/>
      </pc:docMkLst>
      <pc:sldChg chg="modSp">
        <pc:chgData name="Madeline Logan" userId="uO2P3QRxRjLi8uGrns8xxFbumnpet/1CZ6R56MkVvQk=" providerId="None" clId="Web-{15375DBF-1625-463A-9B92-6F41455A23B0}" dt="2026-05-20T00:26:13.375" v="0" actId="14100"/>
        <pc:sldMkLst>
          <pc:docMk/>
          <pc:sldMk cId="3010642984" sldId="257"/>
        </pc:sldMkLst>
        <pc:spChg chg="mod">
          <ac:chgData name="Madeline Logan" userId="uO2P3QRxRjLi8uGrns8xxFbumnpet/1CZ6R56MkVvQk=" providerId="None" clId="Web-{15375DBF-1625-463A-9B92-6F41455A23B0}" dt="2026-05-20T00:26:13.375" v="0" actId="14100"/>
          <ac:spMkLst>
            <pc:docMk/>
            <pc:sldMk cId="3010642984" sldId="257"/>
            <ac:spMk id="3" creationId="{E0A4F7F3-4D87-7012-A102-59C39C3522F6}"/>
          </ac:spMkLst>
        </pc:spChg>
      </pc:sldChg>
      <pc:sldChg chg="modSp">
        <pc:chgData name="Madeline Logan" userId="uO2P3QRxRjLi8uGrns8xxFbumnpet/1CZ6R56MkVvQk=" providerId="None" clId="Web-{15375DBF-1625-463A-9B92-6F41455A23B0}" dt="2026-05-20T00:26:44.157" v="18" actId="14100"/>
        <pc:sldMkLst>
          <pc:docMk/>
          <pc:sldMk cId="3654514730" sldId="259"/>
        </pc:sldMkLst>
        <pc:spChg chg="mod">
          <ac:chgData name="Madeline Logan" userId="uO2P3QRxRjLi8uGrns8xxFbumnpet/1CZ6R56MkVvQk=" providerId="None" clId="Web-{15375DBF-1625-463A-9B92-6F41455A23B0}" dt="2026-05-20T00:26:33.172" v="2" actId="20577"/>
          <ac:spMkLst>
            <pc:docMk/>
            <pc:sldMk cId="3654514730" sldId="259"/>
            <ac:spMk id="3" creationId="{2343795D-B90C-4914-FF19-CDFEECA399D7}"/>
          </ac:spMkLst>
        </pc:spChg>
        <pc:spChg chg="mod">
          <ac:chgData name="Madeline Logan" userId="uO2P3QRxRjLi8uGrns8xxFbumnpet/1CZ6R56MkVvQk=" providerId="None" clId="Web-{15375DBF-1625-463A-9B92-6F41455A23B0}" dt="2026-05-20T00:26:44.157" v="18" actId="14100"/>
          <ac:spMkLst>
            <pc:docMk/>
            <pc:sldMk cId="3654514730" sldId="259"/>
            <ac:spMk id="6" creationId="{1943DEF9-3E31-49A6-F46B-91F81BDAC222}"/>
          </ac:spMkLst>
        </pc:spChg>
      </pc:sldChg>
      <pc:sldChg chg="modSp">
        <pc:chgData name="Madeline Logan" userId="uO2P3QRxRjLi8uGrns8xxFbumnpet/1CZ6R56MkVvQk=" providerId="None" clId="Web-{15375DBF-1625-463A-9B92-6F41455A23B0}" dt="2026-05-20T00:32:55.717" v="21" actId="1076"/>
        <pc:sldMkLst>
          <pc:docMk/>
          <pc:sldMk cId="0" sldId="261"/>
        </pc:sldMkLst>
        <pc:spChg chg="mod">
          <ac:chgData name="Madeline Logan" userId="uO2P3QRxRjLi8uGrns8xxFbumnpet/1CZ6R56MkVvQk=" providerId="None" clId="Web-{15375DBF-1625-463A-9B92-6F41455A23B0}" dt="2026-05-20T00:32:55.717" v="21" actId="1076"/>
          <ac:spMkLst>
            <pc:docMk/>
            <pc:sldMk cId="0" sldId="261"/>
            <ac:spMk id="98" creationId="{00000000-0000-0000-0000-000000000000}"/>
          </ac:spMkLst>
        </pc:spChg>
        <pc:picChg chg="mod">
          <ac:chgData name="Madeline Logan" userId="uO2P3QRxRjLi8uGrns8xxFbumnpet/1CZ6R56MkVvQk=" providerId="None" clId="Web-{15375DBF-1625-463A-9B92-6F41455A23B0}" dt="2026-05-20T00:32:52.232" v="20" actId="1076"/>
          <ac:picMkLst>
            <pc:docMk/>
            <pc:sldMk cId="0" sldId="261"/>
            <ac:picMk id="3" creationId="{00000000-0000-0000-0000-000000000000}"/>
          </ac:picMkLst>
        </pc:picChg>
      </pc:sldChg>
      <pc:sldChg chg="modSp">
        <pc:chgData name="Madeline Logan" userId="uO2P3QRxRjLi8uGrns8xxFbumnpet/1CZ6R56MkVvQk=" providerId="None" clId="Web-{15375DBF-1625-463A-9B92-6F41455A23B0}" dt="2026-05-20T02:10:36.720" v="80" actId="20577"/>
        <pc:sldMkLst>
          <pc:docMk/>
          <pc:sldMk cId="1961108673" sldId="262"/>
        </pc:sldMkLst>
        <pc:spChg chg="mod">
          <ac:chgData name="Madeline Logan" userId="uO2P3QRxRjLi8uGrns8xxFbumnpet/1CZ6R56MkVvQk=" providerId="None" clId="Web-{15375DBF-1625-463A-9B92-6F41455A23B0}" dt="2026-05-20T02:10:36.720" v="80" actId="20577"/>
          <ac:spMkLst>
            <pc:docMk/>
            <pc:sldMk cId="1961108673" sldId="262"/>
            <ac:spMk id="6" creationId="{0B785C01-ADD9-4572-2D9D-F1A02A5B957F}"/>
          </ac:spMkLst>
        </pc:spChg>
      </pc:sldChg>
      <pc:sldChg chg="modSp">
        <pc:chgData name="Madeline Logan" userId="uO2P3QRxRjLi8uGrns8xxFbumnpet/1CZ6R56MkVvQk=" providerId="None" clId="Web-{15375DBF-1625-463A-9B92-6F41455A23B0}" dt="2026-05-20T02:15:34.735" v="84" actId="20577"/>
        <pc:sldMkLst>
          <pc:docMk/>
          <pc:sldMk cId="3168714899" sldId="273"/>
        </pc:sldMkLst>
        <pc:spChg chg="mod">
          <ac:chgData name="Madeline Logan" userId="uO2P3QRxRjLi8uGrns8xxFbumnpet/1CZ6R56MkVvQk=" providerId="None" clId="Web-{15375DBF-1625-463A-9B92-6F41455A23B0}" dt="2026-05-20T02:15:34.735" v="84" actId="20577"/>
          <ac:spMkLst>
            <pc:docMk/>
            <pc:sldMk cId="3168714899" sldId="273"/>
            <ac:spMk id="6" creationId="{3DC9E25A-9A81-5CC0-3798-36E02999AD8C}"/>
          </ac:spMkLst>
        </pc:spChg>
      </pc:sldChg>
      <pc:sldChg chg="addSp delSp modSp">
        <pc:chgData name="Madeline Logan" userId="uO2P3QRxRjLi8uGrns8xxFbumnpet/1CZ6R56MkVvQk=" providerId="None" clId="Web-{15375DBF-1625-463A-9B92-6F41455A23B0}" dt="2026-05-20T02:20:30.264" v="234"/>
        <pc:sldMkLst>
          <pc:docMk/>
          <pc:sldMk cId="1961108673" sldId="277"/>
        </pc:sldMkLst>
        <pc:spChg chg="add del mod">
          <ac:chgData name="Madeline Logan" userId="uO2P3QRxRjLi8uGrns8xxFbumnpet/1CZ6R56MkVvQk=" providerId="None" clId="Web-{15375DBF-1625-463A-9B92-6F41455A23B0}" dt="2026-05-20T02:19:26.433" v="173"/>
          <ac:spMkLst>
            <pc:docMk/>
            <pc:sldMk cId="1961108673" sldId="277"/>
            <ac:spMk id="5" creationId="{0D072129-1189-4A3B-A0C6-8EC804370D71}"/>
          </ac:spMkLst>
        </pc:spChg>
        <pc:spChg chg="del mod">
          <ac:chgData name="Madeline Logan" userId="uO2P3QRxRjLi8uGrns8xxFbumnpet/1CZ6R56MkVvQk=" providerId="None" clId="Web-{15375DBF-1625-463A-9B92-6F41455A23B0}" dt="2026-05-20T02:19:16.026" v="171"/>
          <ac:spMkLst>
            <pc:docMk/>
            <pc:sldMk cId="1961108673" sldId="277"/>
            <ac:spMk id="6" creationId="{0B785C01-ADD9-4572-2D9D-F1A02A5B957F}"/>
          </ac:spMkLst>
        </pc:spChg>
        <pc:graphicFrameChg chg="add mod modGraphic">
          <ac:chgData name="Madeline Logan" userId="uO2P3QRxRjLi8uGrns8xxFbumnpet/1CZ6R56MkVvQk=" providerId="None" clId="Web-{15375DBF-1625-463A-9B92-6F41455A23B0}" dt="2026-05-20T02:20:30.264" v="234"/>
          <ac:graphicFrameMkLst>
            <pc:docMk/>
            <pc:sldMk cId="1961108673" sldId="277"/>
            <ac:graphicFrameMk id="2" creationId="{607507AE-3F9D-4F71-06E4-4CF4EA5A5A9B}"/>
          </ac:graphicFrameMkLst>
        </pc:graphicFrameChg>
      </pc:sldChg>
      <pc:sldChg chg="modSp">
        <pc:chgData name="Madeline Logan" userId="uO2P3QRxRjLi8uGrns8xxFbumnpet/1CZ6R56MkVvQk=" providerId="None" clId="Web-{15375DBF-1625-463A-9B92-6F41455A23B0}" dt="2026-05-20T02:21:07.782" v="236" actId="20577"/>
        <pc:sldMkLst>
          <pc:docMk/>
          <pc:sldMk cId="2869343629" sldId="282"/>
        </pc:sldMkLst>
        <pc:spChg chg="mod">
          <ac:chgData name="Madeline Logan" userId="uO2P3QRxRjLi8uGrns8xxFbumnpet/1CZ6R56MkVvQk=" providerId="None" clId="Web-{15375DBF-1625-463A-9B92-6F41455A23B0}" dt="2026-05-20T02:21:07.782" v="236" actId="20577"/>
          <ac:spMkLst>
            <pc:docMk/>
            <pc:sldMk cId="2869343629" sldId="282"/>
            <ac:spMk id="6" creationId="{F2309865-F254-0EF6-7E24-A4C016DFC45F}"/>
          </ac:spMkLst>
        </pc:spChg>
      </pc:sldChg>
      <pc:sldChg chg="modSp">
        <pc:chgData name="Madeline Logan" userId="uO2P3QRxRjLi8uGrns8xxFbumnpet/1CZ6R56MkVvQk=" providerId="None" clId="Web-{15375DBF-1625-463A-9B92-6F41455A23B0}" dt="2026-05-20T02:21:21.189" v="244" actId="14100"/>
        <pc:sldMkLst>
          <pc:docMk/>
          <pc:sldMk cId="1961108673" sldId="283"/>
        </pc:sldMkLst>
        <pc:spChg chg="mod">
          <ac:chgData name="Madeline Logan" userId="uO2P3QRxRjLi8uGrns8xxFbumnpet/1CZ6R56MkVvQk=" providerId="None" clId="Web-{15375DBF-1625-463A-9B92-6F41455A23B0}" dt="2026-05-20T02:21:21.189" v="244" actId="14100"/>
          <ac:spMkLst>
            <pc:docMk/>
            <pc:sldMk cId="1961108673" sldId="283"/>
            <ac:spMk id="6" creationId="{0B785C01-ADD9-4572-2D9D-F1A02A5B957F}"/>
          </ac:spMkLst>
        </pc:spChg>
      </pc:sldChg>
      <pc:sldChg chg="modSp">
        <pc:chgData name="Madeline Logan" userId="uO2P3QRxRjLi8uGrns8xxFbumnpet/1CZ6R56MkVvQk=" providerId="None" clId="Web-{15375DBF-1625-463A-9B92-6F41455A23B0}" dt="2026-05-20T02:22:06.909" v="267" actId="20577"/>
        <pc:sldMkLst>
          <pc:docMk/>
          <pc:sldMk cId="1961108673" sldId="284"/>
        </pc:sldMkLst>
        <pc:spChg chg="mod">
          <ac:chgData name="Madeline Logan" userId="uO2P3QRxRjLi8uGrns8xxFbumnpet/1CZ6R56MkVvQk=" providerId="None" clId="Web-{15375DBF-1625-463A-9B92-6F41455A23B0}" dt="2026-05-20T02:22:06.909" v="267" actId="20577"/>
          <ac:spMkLst>
            <pc:docMk/>
            <pc:sldMk cId="1961108673" sldId="284"/>
            <ac:spMk id="6" creationId="{0B785C01-ADD9-4572-2D9D-F1A02A5B957F}"/>
          </ac:spMkLst>
        </pc:spChg>
      </pc:sldChg>
    </pc:docChg>
  </pc:docChgLst>
  <pc:docChgLst>
    <pc:chgData clId="Web-{15375DBF-1625-463A-9B92-6F41455A23B0}"/>
    <pc:docChg chg="modSld">
      <pc:chgData name="" userId="" providerId="" clId="Web-{15375DBF-1625-463A-9B92-6F41455A23B0}" dt="2026-05-20T00:26:05.624" v="1" actId="14100"/>
      <pc:docMkLst>
        <pc:docMk/>
      </pc:docMkLst>
      <pc:sldChg chg="modSp">
        <pc:chgData name="" userId="" providerId="" clId="Web-{15375DBF-1625-463A-9B92-6F41455A23B0}" dt="2026-05-20T00:26:05.624" v="1" actId="14100"/>
        <pc:sldMkLst>
          <pc:docMk/>
          <pc:sldMk cId="3010642984" sldId="257"/>
        </pc:sldMkLst>
        <pc:spChg chg="mod">
          <ac:chgData name="" userId="" providerId="" clId="Web-{15375DBF-1625-463A-9B92-6F41455A23B0}" dt="2026-05-20T00:26:05.624" v="1" actId="14100"/>
          <ac:spMkLst>
            <pc:docMk/>
            <pc:sldMk cId="3010642984" sldId="257"/>
            <ac:spMk id="3" creationId="{E0A4F7F3-4D87-7012-A102-59C39C3522F6}"/>
          </ac:spMkLst>
        </pc:spChg>
      </pc:sldChg>
    </pc:docChg>
  </pc:docChgLst>
  <pc:docChgLst>
    <pc:chgData name="Madeline Logan" userId="uO2P3QRxRjLi8uGrns8xxFbumnpet/1CZ6R56MkVvQk=" providerId="None" clId="Web-{F912979D-20A2-461A-8232-619D5BCDDC6C}"/>
    <pc:docChg chg="modSld">
      <pc:chgData name="Madeline Logan" userId="uO2P3QRxRjLi8uGrns8xxFbumnpet/1CZ6R56MkVvQk=" providerId="None" clId="Web-{F912979D-20A2-461A-8232-619D5BCDDC6C}" dt="2026-05-19T21:23:03.573" v="176" actId="1076"/>
      <pc:docMkLst>
        <pc:docMk/>
      </pc:docMkLst>
      <pc:sldChg chg="modSp">
        <pc:chgData name="Madeline Logan" userId="uO2P3QRxRjLi8uGrns8xxFbumnpet/1CZ6R56MkVvQk=" providerId="None" clId="Web-{F912979D-20A2-461A-8232-619D5BCDDC6C}" dt="2026-05-19T21:01:10.350" v="2" actId="14100"/>
        <pc:sldMkLst>
          <pc:docMk/>
          <pc:sldMk cId="2565854800" sldId="258"/>
        </pc:sldMkLst>
        <pc:spChg chg="mod">
          <ac:chgData name="Madeline Logan" userId="uO2P3QRxRjLi8uGrns8xxFbumnpet/1CZ6R56MkVvQk=" providerId="None" clId="Web-{F912979D-20A2-461A-8232-619D5BCDDC6C}" dt="2026-05-19T21:01:10.350" v="2" actId="14100"/>
          <ac:spMkLst>
            <pc:docMk/>
            <pc:sldMk cId="2565854800" sldId="258"/>
            <ac:spMk id="6" creationId="{0E50EA53-88A9-E56A-21DD-75BC54F11095}"/>
          </ac:spMkLst>
        </pc:spChg>
      </pc:sldChg>
      <pc:sldChg chg="addSp modSp">
        <pc:chgData name="Madeline Logan" userId="uO2P3QRxRjLi8uGrns8xxFbumnpet/1CZ6R56MkVvQk=" providerId="None" clId="Web-{F912979D-20A2-461A-8232-619D5BCDDC6C}" dt="2026-05-19T21:07:41.819" v="21" actId="20577"/>
        <pc:sldMkLst>
          <pc:docMk/>
          <pc:sldMk cId="3654514730" sldId="259"/>
        </pc:sldMkLst>
        <pc:spChg chg="add mod">
          <ac:chgData name="Madeline Logan" userId="uO2P3QRxRjLi8uGrns8xxFbumnpet/1CZ6R56MkVvQk=" providerId="None" clId="Web-{F912979D-20A2-461A-8232-619D5BCDDC6C}" dt="2026-05-19T21:07:39.443" v="20" actId="20577"/>
          <ac:spMkLst>
            <pc:docMk/>
            <pc:sldMk cId="3654514730" sldId="259"/>
            <ac:spMk id="3" creationId="{2343795D-B90C-4914-FF19-CDFEECA399D7}"/>
          </ac:spMkLst>
        </pc:spChg>
        <pc:spChg chg="mod">
          <ac:chgData name="Madeline Logan" userId="uO2P3QRxRjLi8uGrns8xxFbumnpet/1CZ6R56MkVvQk=" providerId="None" clId="Web-{F912979D-20A2-461A-8232-619D5BCDDC6C}" dt="2026-05-19T21:07:41.819" v="21" actId="20577"/>
          <ac:spMkLst>
            <pc:docMk/>
            <pc:sldMk cId="3654514730" sldId="259"/>
            <ac:spMk id="6" creationId="{1943DEF9-3E31-49A6-F46B-91F81BDAC222}"/>
          </ac:spMkLst>
        </pc:spChg>
      </pc:sldChg>
      <pc:sldChg chg="modSp">
        <pc:chgData name="Madeline Logan" userId="uO2P3QRxRjLi8uGrns8xxFbumnpet/1CZ6R56MkVvQk=" providerId="None" clId="Web-{F912979D-20A2-461A-8232-619D5BCDDC6C}" dt="2026-05-19T21:11:19.686" v="44" actId="20577"/>
        <pc:sldMkLst>
          <pc:docMk/>
          <pc:sldMk cId="1961108673" sldId="260"/>
        </pc:sldMkLst>
        <pc:spChg chg="mod">
          <ac:chgData name="Madeline Logan" userId="uO2P3QRxRjLi8uGrns8xxFbumnpet/1CZ6R56MkVvQk=" providerId="None" clId="Web-{F912979D-20A2-461A-8232-619D5BCDDC6C}" dt="2026-05-19T21:11:19.686" v="44" actId="20577"/>
          <ac:spMkLst>
            <pc:docMk/>
            <pc:sldMk cId="1961108673" sldId="260"/>
            <ac:spMk id="6" creationId="{0B785C01-ADD9-4572-2D9D-F1A02A5B957F}"/>
          </ac:spMkLst>
        </pc:spChg>
      </pc:sldChg>
      <pc:sldChg chg="addSp delSp modSp">
        <pc:chgData name="Madeline Logan" userId="uO2P3QRxRjLi8uGrns8xxFbumnpet/1CZ6R56MkVvQk=" providerId="None" clId="Web-{F912979D-20A2-461A-8232-619D5BCDDC6C}" dt="2026-05-19T21:12:05.251" v="50" actId="20577"/>
        <pc:sldMkLst>
          <pc:docMk/>
          <pc:sldMk cId="0" sldId="261"/>
        </pc:sldMkLst>
        <pc:spChg chg="mod">
          <ac:chgData name="Madeline Logan" userId="uO2P3QRxRjLi8uGrns8xxFbumnpet/1CZ6R56MkVvQk=" providerId="None" clId="Web-{F912979D-20A2-461A-8232-619D5BCDDC6C}" dt="2026-05-19T21:12:05.251" v="50" actId="20577"/>
          <ac:spMkLst>
            <pc:docMk/>
            <pc:sldMk cId="0" sldId="261"/>
            <ac:spMk id="98" creationId="{00000000-0000-0000-0000-000000000000}"/>
          </ac:spMkLst>
        </pc:spChg>
        <pc:picChg chg="add del mod">
          <ac:chgData name="Madeline Logan" userId="uO2P3QRxRjLi8uGrns8xxFbumnpet/1CZ6R56MkVvQk=" providerId="None" clId="Web-{F912979D-20A2-461A-8232-619D5BCDDC6C}" dt="2026-05-19T21:11:52.953" v="48"/>
          <ac:picMkLst>
            <pc:docMk/>
            <pc:sldMk cId="0" sldId="261"/>
            <ac:picMk id="3" creationId="{00000000-0000-0000-0000-000000000000}"/>
          </ac:picMkLst>
        </pc:picChg>
      </pc:sldChg>
      <pc:sldChg chg="modSp">
        <pc:chgData name="Madeline Logan" userId="uO2P3QRxRjLi8uGrns8xxFbumnpet/1CZ6R56MkVvQk=" providerId="None" clId="Web-{F912979D-20A2-461A-8232-619D5BCDDC6C}" dt="2026-05-19T21:12:32.580" v="60" actId="1076"/>
        <pc:sldMkLst>
          <pc:docMk/>
          <pc:sldMk cId="1961108673" sldId="262"/>
        </pc:sldMkLst>
        <pc:spChg chg="mod">
          <ac:chgData name="Madeline Logan" userId="uO2P3QRxRjLi8uGrns8xxFbumnpet/1CZ6R56MkVvQk=" providerId="None" clId="Web-{F912979D-20A2-461A-8232-619D5BCDDC6C}" dt="2026-05-19T21:12:32.580" v="60" actId="1076"/>
          <ac:spMkLst>
            <pc:docMk/>
            <pc:sldMk cId="1961108673" sldId="262"/>
            <ac:spMk id="6" creationId="{0B785C01-ADD9-4572-2D9D-F1A02A5B957F}"/>
          </ac:spMkLst>
        </pc:spChg>
      </pc:sldChg>
      <pc:sldChg chg="modSp">
        <pc:chgData name="Madeline Logan" userId="uO2P3QRxRjLi8uGrns8xxFbumnpet/1CZ6R56MkVvQk=" providerId="None" clId="Web-{F912979D-20A2-461A-8232-619D5BCDDC6C}" dt="2026-05-19T21:13:00.425" v="68" actId="14100"/>
        <pc:sldMkLst>
          <pc:docMk/>
          <pc:sldMk cId="1160918336" sldId="263"/>
        </pc:sldMkLst>
        <pc:spChg chg="mod">
          <ac:chgData name="Madeline Logan" userId="uO2P3QRxRjLi8uGrns8xxFbumnpet/1CZ6R56MkVvQk=" providerId="None" clId="Web-{F912979D-20A2-461A-8232-619D5BCDDC6C}" dt="2026-05-19T21:13:00.425" v="68" actId="14100"/>
          <ac:spMkLst>
            <pc:docMk/>
            <pc:sldMk cId="1160918336" sldId="263"/>
            <ac:spMk id="6" creationId="{49E3CF90-A1E3-CF0C-C5A8-E057511D9032}"/>
          </ac:spMkLst>
        </pc:spChg>
      </pc:sldChg>
      <pc:sldChg chg="modSp">
        <pc:chgData name="Madeline Logan" userId="uO2P3QRxRjLi8uGrns8xxFbumnpet/1CZ6R56MkVvQk=" providerId="None" clId="Web-{F912979D-20A2-461A-8232-619D5BCDDC6C}" dt="2026-05-19T21:13:16.300" v="108"/>
        <pc:sldMkLst>
          <pc:docMk/>
          <pc:sldMk cId="1160918336" sldId="264"/>
        </pc:sldMkLst>
        <pc:graphicFrameChg chg="mod modGraphic">
          <ac:chgData name="Madeline Logan" userId="uO2P3QRxRjLi8uGrns8xxFbumnpet/1CZ6R56MkVvQk=" providerId="None" clId="Web-{F912979D-20A2-461A-8232-619D5BCDDC6C}" dt="2026-05-19T21:13:16.300" v="108"/>
          <ac:graphicFrameMkLst>
            <pc:docMk/>
            <pc:sldMk cId="1160918336" sldId="264"/>
            <ac:graphicFrameMk id="10" creationId="{00000000-0000-0000-0000-000000000000}"/>
          </ac:graphicFrameMkLst>
        </pc:graphicFrameChg>
      </pc:sldChg>
      <pc:sldChg chg="modSp">
        <pc:chgData name="Madeline Logan" userId="uO2P3QRxRjLi8uGrns8xxFbumnpet/1CZ6R56MkVvQk=" providerId="None" clId="Web-{F912979D-20A2-461A-8232-619D5BCDDC6C}" dt="2026-05-19T21:14:49.616" v="117" actId="14100"/>
        <pc:sldMkLst>
          <pc:docMk/>
          <pc:sldMk cId="1961108673" sldId="265"/>
        </pc:sldMkLst>
        <pc:spChg chg="mod">
          <ac:chgData name="Madeline Logan" userId="uO2P3QRxRjLi8uGrns8xxFbumnpet/1CZ6R56MkVvQk=" providerId="None" clId="Web-{F912979D-20A2-461A-8232-619D5BCDDC6C}" dt="2026-05-19T21:14:49.616" v="117" actId="14100"/>
          <ac:spMkLst>
            <pc:docMk/>
            <pc:sldMk cId="1961108673" sldId="265"/>
            <ac:spMk id="6" creationId="{0B785C01-ADD9-4572-2D9D-F1A02A5B957F}"/>
          </ac:spMkLst>
        </pc:spChg>
      </pc:sldChg>
      <pc:sldChg chg="modSp">
        <pc:chgData name="Madeline Logan" userId="uO2P3QRxRjLi8uGrns8xxFbumnpet/1CZ6R56MkVvQk=" providerId="None" clId="Web-{F912979D-20A2-461A-8232-619D5BCDDC6C}" dt="2026-05-19T21:15:54.822" v="128" actId="1076"/>
        <pc:sldMkLst>
          <pc:docMk/>
          <pc:sldMk cId="1961108673" sldId="266"/>
        </pc:sldMkLst>
        <pc:spChg chg="mod">
          <ac:chgData name="Madeline Logan" userId="uO2P3QRxRjLi8uGrns8xxFbumnpet/1CZ6R56MkVvQk=" providerId="None" clId="Web-{F912979D-20A2-461A-8232-619D5BCDDC6C}" dt="2026-05-19T21:15:54.822" v="128" actId="1076"/>
          <ac:spMkLst>
            <pc:docMk/>
            <pc:sldMk cId="1961108673" sldId="266"/>
            <ac:spMk id="6" creationId="{0B785C01-ADD9-4572-2D9D-F1A02A5B957F}"/>
          </ac:spMkLst>
        </pc:spChg>
      </pc:sldChg>
      <pc:sldChg chg="modSp">
        <pc:chgData name="Madeline Logan" userId="uO2P3QRxRjLi8uGrns8xxFbumnpet/1CZ6R56MkVvQk=" providerId="None" clId="Web-{F912979D-20A2-461A-8232-619D5BCDDC6C}" dt="2026-05-19T21:16:24.105" v="136" actId="14100"/>
        <pc:sldMkLst>
          <pc:docMk/>
          <pc:sldMk cId="1961108673" sldId="268"/>
        </pc:sldMkLst>
        <pc:spChg chg="mod">
          <ac:chgData name="Madeline Logan" userId="uO2P3QRxRjLi8uGrns8xxFbumnpet/1CZ6R56MkVvQk=" providerId="None" clId="Web-{F912979D-20A2-461A-8232-619D5BCDDC6C}" dt="2026-05-19T21:16:24.105" v="136" actId="14100"/>
          <ac:spMkLst>
            <pc:docMk/>
            <pc:sldMk cId="1961108673" sldId="268"/>
            <ac:spMk id="6" creationId="{0B785C01-ADD9-4572-2D9D-F1A02A5B957F}"/>
          </ac:spMkLst>
        </pc:spChg>
      </pc:sldChg>
      <pc:sldChg chg="modSp">
        <pc:chgData name="Madeline Logan" userId="uO2P3QRxRjLi8uGrns8xxFbumnpet/1CZ6R56MkVvQk=" providerId="None" clId="Web-{F912979D-20A2-461A-8232-619D5BCDDC6C}" dt="2026-05-19T21:18:31.938" v="146" actId="14100"/>
        <pc:sldMkLst>
          <pc:docMk/>
          <pc:sldMk cId="1961108673" sldId="269"/>
        </pc:sldMkLst>
        <pc:spChg chg="mod">
          <ac:chgData name="Madeline Logan" userId="uO2P3QRxRjLi8uGrns8xxFbumnpet/1CZ6R56MkVvQk=" providerId="None" clId="Web-{F912979D-20A2-461A-8232-619D5BCDDC6C}" dt="2026-05-19T21:18:31.938" v="146" actId="14100"/>
          <ac:spMkLst>
            <pc:docMk/>
            <pc:sldMk cId="1961108673" sldId="269"/>
            <ac:spMk id="6" creationId="{0B785C01-ADD9-4572-2D9D-F1A02A5B957F}"/>
          </ac:spMkLst>
        </pc:spChg>
      </pc:sldChg>
      <pc:sldChg chg="modSp">
        <pc:chgData name="Madeline Logan" userId="uO2P3QRxRjLi8uGrns8xxFbumnpet/1CZ6R56MkVvQk=" providerId="None" clId="Web-{F912979D-20A2-461A-8232-619D5BCDDC6C}" dt="2026-05-19T21:23:03.573" v="176" actId="1076"/>
        <pc:sldMkLst>
          <pc:docMk/>
          <pc:sldMk cId="1961108673" sldId="286"/>
        </pc:sldMkLst>
        <pc:spChg chg="mod">
          <ac:chgData name="Madeline Logan" userId="uO2P3QRxRjLi8uGrns8xxFbumnpet/1CZ6R56MkVvQk=" providerId="None" clId="Web-{F912979D-20A2-461A-8232-619D5BCDDC6C}" dt="2026-05-19T21:23:03.573" v="176" actId="1076"/>
          <ac:spMkLst>
            <pc:docMk/>
            <pc:sldMk cId="1961108673" sldId="286"/>
            <ac:spMk id="6" creationId="{0B785C01-ADD9-4572-2D9D-F1A02A5B957F}"/>
          </ac:spMkLst>
        </pc:spChg>
      </pc:sldChg>
    </pc:docChg>
  </pc:docChgLst>
</pc:chgInfo>
</file>

<file path=ppt/comments/modernComment_10C_74E424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767259-76CC-4D57-98B3-160B1CC55FA1}" authorId="{DF01155D-D0C1-402B-68DF-D86472C11D49}" created="2026-05-20T02:13:34.3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61108673" sldId="268"/>
      <ac:spMk id="6" creationId="{0B785C01-ADD9-4572-2D9D-F1A02A5B957F}"/>
      <ac:txMk cp="360" len="45">
        <ac:context len="406" hash="738800880"/>
      </ac:txMk>
    </ac:txMkLst>
    <p188:pos x="7723322" y="4197457"/>
    <p188:txBody>
      <a:bodyPr/>
      <a:lstStyle/>
      <a:p>
        <a:r>
          <a:rPr lang="en-US"/>
          <a:t>I'm a little unclear on what the arrows mean.</a:t>
        </a:r>
      </a:p>
    </p188:txBody>
  </p188:cm>
  <p188:cm id="{4F6ACFC9-80F4-44FD-A0DD-BE7E62590C78}" authorId="{DF01155D-D0C1-402B-68DF-D86472C11D49}" created="2026-05-20T02:14:35.46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61108673" sldId="268"/>
      <ac:spMk id="6" creationId="{0B785C01-ADD9-4572-2D9D-F1A02A5B957F}"/>
      <ac:txMk cp="152" len="14">
        <ac:context len="406" hash="738800880"/>
      </ac:txMk>
    </ac:txMkLst>
    <p188:pos x="8317423" y="2066440"/>
    <p188:txBody>
      <a:bodyPr/>
      <a:lstStyle/>
      <a:p>
        <a:r>
          <a:rPr lang="en-US"/>
          <a:t>What would a light command be? I don't think it needs to be added, I am just curious.</a:t>
        </a:r>
      </a:p>
    </p188:txBody>
  </p188:cm>
</p188:cmLst>
</file>

<file path=ppt/comments/modernComment_10D_74E424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66C2FD-ABAB-4A4A-8D56-B722D9E7F70D}" authorId="{DF01155D-D0C1-402B-68DF-D86472C11D49}" created="2026-05-20T02:15:12.7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61108673" sldId="269"/>
      <ac:spMk id="6" creationId="{0B785C01-ADD9-4572-2D9D-F1A02A5B957F}"/>
      <ac:txMk cp="57" len="5">
        <ac:context len="305" hash="3711276916"/>
      </ac:txMk>
    </ac:txMkLst>
    <p188:pos x="4029559" y="981559"/>
    <p188:txBody>
      <a:bodyPr/>
      <a:lstStyle/>
      <a:p>
        <a:r>
          <a:rPr lang="en-US"/>
          <a:t>What is SFTP - it has not been mentioned previously.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93B744-1B4F-4B4F-AADA-E40B9E3997A5}" authorId="{DF01155D-D0C1-402B-68DF-D86472C11D49}" created="2026-05-20T02:01:04.86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1"/>
      <ac:spMk id="2" creationId="{00000000-0000-0000-0000-000000000000}"/>
      <ac:txMk cp="10" len="1">
        <ac:context len="27" hash="2826005628"/>
      </ac:txMk>
    </ac:txMkLst>
    <p188:txBody>
      <a:bodyPr/>
      <a:lstStyle/>
      <a:p>
        <a:r>
          <a:rPr lang="en-US"/>
          <a:t>Is there a way to find a less squashed version of this image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8CB5F-C029-8E4D-8C11-838922BE2791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50507-6ABD-D342-BD52-6EEA9C61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7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everyone. This week we are taking a major step: from running things on your laptop, to using a shared computing cluster.</a:t>
            </a:r>
          </a:p>
          <a:p>
            <a:r>
              <a:rPr lang="en-US" dirty="0"/>
              <a:t>By the end of today you will have connected to a real HPC cluster, transferred a file, and submitted your first batch job.</a:t>
            </a:r>
          </a:p>
          <a:p>
            <a:r>
              <a:rPr lang="en-US" dirty="0"/>
              <a:t>If you are off campus, please make sure you are connected to the Tufts VPN before the hands-on section.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things to learn today. The first two are conceptual — understanding what a cluster IS and how it works. These concepts apply to any HPC system, not just Tufts.</a:t>
            </a:r>
          </a:p>
          <a:p>
            <a:r>
              <a:rPr lang="en-US" dirty="0"/>
              <a:t>The last three are practical — actually doing things on the cluster. Both matter equally.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 before showing any HPC diagrams. Students from biology backgrounds often do not know why you would use a cluster.</a:t>
            </a:r>
          </a:p>
          <a:p>
            <a:r>
              <a:rPr lang="en-US" dirty="0"/>
              <a:t>The key insight: it is not that a cluster is faster per-se — it is that it has resources a single machine physically cannot have. And it can run many jobs at the same time.</a:t>
            </a:r>
          </a:p>
          <a:p>
            <a:r>
              <a:rPr lang="en-US" dirty="0"/>
              <a:t>Ask the class: has anyone run a script that took more than 30 minutes on their laptop? What happened to their computer while it ran?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architecture of a typical HPC cluster. Walk through each component:</a:t>
            </a:r>
          </a:p>
          <a:p>
            <a:r>
              <a:rPr lang="en-US" dirty="0"/>
              <a:t>- Client access: SSH or web browser. You connect here.</a:t>
            </a:r>
          </a:p>
          <a:p>
            <a:r>
              <a:rPr lang="en-US" dirty="0"/>
              <a:t>- Login node: where you land. Light work only — it is shared by everyone.</a:t>
            </a:r>
          </a:p>
          <a:p>
            <a:r>
              <a:rPr lang="en-US" dirty="0"/>
              <a:t>- Job scheduler (SLURM on many systems): the traffic controller. You request resources, it decides when and where your job runs.</a:t>
            </a:r>
          </a:p>
          <a:p>
            <a:r>
              <a:rPr lang="en-US" dirty="0"/>
              <a:t>- Compute partitions: the actual machines doing the work. Standard, high-memory, GPU.</a:t>
            </a:r>
          </a:p>
          <a:p>
            <a:r>
              <a:rPr lang="en-US" dirty="0"/>
              <a:t>- Shared storage: all nodes can see the same files. You copy data once and any compute node can access it.</a:t>
            </a:r>
          </a:p>
          <a:p>
            <a:r>
              <a:rPr lang="en-US" dirty="0"/>
              <a:t>This same pattern — login, scheduler, compute, shared storage — applies to Tufts HPC, national supercomputers like XSEDE, and cloud HPC systems like AWS ParallelCluster.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architecture with concrete roles. The scheduler name varies — Tufts uses SLURM, other institutions use PBS/Torque, or LSF, but the concept is identical.</a:t>
            </a:r>
          </a:p>
          <a:p>
            <a:r>
              <a:rPr lang="en-US" dirty="0"/>
              <a:t>Emphasize shared storage: this is a major difference from your laptop. On a cluster, files live in one place accessible from everywhere. You do not copy data to each compute node — the compute node reads from shared storage.</a:t>
            </a:r>
          </a:p>
          <a:p>
            <a:r>
              <a:rPr lang="en-US" dirty="0"/>
              <a:t>Ask: what happens if two people try to run on the same compute node at the same time without a scheduler? (Answer: chaos — both jobs compete for RAM and CPU, both run slowly.)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get practical. We will cover the three tools you need to get onto the cluster and move files around.</a:t>
            </a:r>
          </a:p>
          <a:p>
            <a:r>
              <a:rPr lang="en-US" dirty="0"/>
              <a:t>SSH for the terminal connection, SFTP and rsync for file transfers, and where to put your files.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Tufts gives you two front doors. OnDemand is great for interactive work in a browser. SSH is what you will use for everything else — submitting jobs, writing scripts, transferring files.</a:t>
            </a:r>
          </a:p>
          <a:p>
            <a:r>
              <a:rPr lang="en-US" dirty="0"/>
              <a:t>VPN reminder: if the SSH command just hangs, the most common reason is that the student is off campus without VPN.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 is the standard way to connect to any remote machine securely. It has been around since the 1990s and is used everywhere — from HPC clusters to cloud servers to Raspberry Pis.</a:t>
            </a:r>
          </a:p>
          <a:p>
            <a:r>
              <a:rPr lang="en-US" dirty="0"/>
              <a:t>Important framing: SSH is not Tufts-specific. The same command (ssh user@hostname) works for any SSH server anywhere in the world.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follow along and run this command.</a:t>
            </a:r>
          </a:p>
          <a:p>
            <a:r>
              <a:rPr lang="en-US" dirty="0"/>
              <a:t>First-time connection: SSH will show a host fingerprint and ask if you trust it — just type yes.</a:t>
            </a:r>
          </a:p>
          <a:p>
            <a:r>
              <a:rPr lang="en-US" dirty="0"/>
              <a:t>The hostname in the prompt tells you exactly where you are. 'login-prod' means login node. When we submit a job successfully, the job will run on something like 'compute-1-23'.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rule for HPC. Login nodes are shared by potentially hundreds of users at the same time.</a:t>
            </a:r>
          </a:p>
          <a:p>
            <a:r>
              <a:rPr lang="en-US" dirty="0"/>
              <a:t>Analogy: the login node is the lobby of a building. You do not set up your desk in the lobby. You use it to get where you are going.</a:t>
            </a:r>
          </a:p>
          <a:p>
            <a:r>
              <a:rPr lang="en-US" dirty="0"/>
              <a:t>If you violate this, you do not just slow yourself down — you slow down everyone else on that login node. On some clusters, admins will kill your job and warn you. On Tufts, please be respectful.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rsync is the tool to use when you have more than a few files. Its resume feature is especially useful for large genomics datasets — if your connection drops halfway through a 50 GB transfer, rsync will pick up right where it left off.</a:t>
            </a:r>
          </a:p>
          <a:p>
            <a:r>
              <a:rPr lang="en-US" dirty="0"/>
              <a:t>Critical: run rsync from your laptop terminal, not from inside your SSH session.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commands are ones students will use constantly this semester. The avzP flag combination is a solid default for bioinformatics.</a:t>
            </a:r>
          </a:p>
          <a:p>
            <a:r>
              <a:rPr lang="en-US" dirty="0"/>
              <a:t>The trailing slash is a consistent stumbling block — emphasize it and show the difference if possible.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SLURM job is two things combined: a resource request (how many CPUs, how much RAM, how long) and a list of commands to run.</a:t>
            </a:r>
          </a:p>
          <a:p>
            <a:r>
              <a:rPr lang="en-US" dirty="0"/>
              <a:t>You put these together in a shell script, submit it with sbatch, and SLURM runs it on a compute node when resources are available.</a:t>
            </a:r>
          </a:p>
          <a:p>
            <a:r>
              <a:rPr lang="en-US" dirty="0"/>
              <a:t>We will go deep on script writing in Lecture 2. Today, we want to submit our first job.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job must specify these four things. They determine where and when the scheduler can run your job.</a:t>
            </a:r>
          </a:p>
          <a:p>
            <a:r>
              <a:rPr lang="en-US" dirty="0"/>
              <a:t>CPU cores: only request as many as your tool can actually use. Memory: get this wrong and your job crashes. Walltime: SLURM kills your job if it runs past this. Partition: which group of nodes — batch for general CPU, gpu if you need a GPU.</a:t>
            </a:r>
          </a:p>
          <a:p>
            <a:r>
              <a:rPr lang="en-US" dirty="0"/>
              <a:t>These same parameters exist on every scheduler, just with slightly different names.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commands you will use throughout this course. sbatch submits, squeue monitors, scancel kills, sacct checks results after.</a:t>
            </a:r>
          </a:p>
          <a:p>
            <a:r>
              <a:rPr lang="en-US" dirty="0"/>
              <a:t>srun is your best friend for debugging — it drops you onto a compute node interactively so you can test commands before writing a script.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the full lifecycle of a SLURM job. You write a script, submit with sbatch, it enters the queue (PENDING), SLURM finds resources, the job runs (RUNNING), and when done you review the output with sacct.</a:t>
            </a:r>
          </a:p>
          <a:p>
            <a:r>
              <a:rPr lang="en-US" dirty="0"/>
              <a:t>This loop — Write, Submit, Queue, Run, Review — is what you will do hundreds of times in this course. Once this pattern is automatic, HPC feels much less intimidating.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SBATCH directive with students as they type it. These directives are the focus of Lecture 2, but a first look here is useful.</a:t>
            </a:r>
          </a:p>
          <a:p>
            <a:r>
              <a:rPr lang="en-US" dirty="0"/>
              <a:t>Save with Ctrl+X, Y, Enter. Then sbatch. They should see 'Submitted batch job XXXXXXX'. Record that number.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0507-6ABD-D342-BD52-6EEA9C6115F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74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0507-6ABD-D342-BD52-6EEA9C6115F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73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0507-6ABD-D342-BD52-6EEA9C6115F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09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0507-6ABD-D342-BD52-6EEA9C6115F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11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B7A1-326A-8EB2-634C-28339133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F165C-4E75-6C7B-894D-44E14FE6D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81A67-03F4-1AEE-DBFC-8D1853A0C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87F45-85E4-185D-158F-31D5F0DCE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0507-6ABD-D342-BD52-6EEA9C6115F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8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0507-6ABD-D342-BD52-6EEA9C6115F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5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Title">
            <a:extLst>
              <a:ext uri="{FF2B5EF4-FFF2-40B4-BE49-F238E27FC236}">
                <a16:creationId xmlns:a16="http://schemas.microsoft.com/office/drawing/2014/main" id="{DCC2942B-EBA9-CE44-CBF0-064F555595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1215" y="2336695"/>
            <a:ext cx="9429198" cy="175432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mtClean="0">
                <a:effectLst/>
              </a:defRPr>
            </a:lvl1pPr>
          </a:lstStyle>
          <a:p>
            <a:r>
              <a:rPr lang="en-US" dirty="0"/>
              <a:t>Scalable and Reproducible</a:t>
            </a:r>
            <a:br>
              <a:rPr lang="en-US" dirty="0"/>
            </a:br>
            <a:r>
              <a:rPr lang="en-US" dirty="0"/>
              <a:t>Computing for Bioinformatics 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Subhead or department name">
            <a:extLst>
              <a:ext uri="{FF2B5EF4-FFF2-40B4-BE49-F238E27FC236}">
                <a16:creationId xmlns:a16="http://schemas.microsoft.com/office/drawing/2014/main" id="{49175329-E67E-B390-0D2D-E3B892A407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215" y="4121233"/>
            <a:ext cx="6979920" cy="99617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Shirely Li and Yucheng Zhang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32670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ick to Edit Title">
            <a:extLst>
              <a:ext uri="{FF2B5EF4-FFF2-40B4-BE49-F238E27FC236}">
                <a16:creationId xmlns:a16="http://schemas.microsoft.com/office/drawing/2014/main" id="{591499BD-67CC-CD67-4074-4DEE8EECA4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1964" y="351793"/>
            <a:ext cx="4040471" cy="618631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defRPr sz="3800" b="1">
                <a:solidFill>
                  <a:srgbClr val="3172AE"/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Title Subhead or department name">
            <a:extLst>
              <a:ext uri="{FF2B5EF4-FFF2-40B4-BE49-F238E27FC236}">
                <a16:creationId xmlns:a16="http://schemas.microsoft.com/office/drawing/2014/main" id="{FD384D3E-69C9-80C5-0FB5-7585BC16F5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4975" y="951374"/>
            <a:ext cx="3412389" cy="4524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600">
                <a:solidFill>
                  <a:schemeClr val="bg1">
                    <a:lumMod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B0604020202020204" pitchFamily="34" charset="0"/>
              <a:buNone/>
              <a:tabLst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Slide Title Subhead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0D8DFA-E35C-30A0-34FD-7EBAE91EECB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5721774" y="887624"/>
            <a:ext cx="5960177" cy="32785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lnSpc>
                <a:spcPts val="3600"/>
              </a:lnSpc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Sea ne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assum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referrentur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enim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vide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putant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te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mel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. Cum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tollit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intellegebat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eu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disputationi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consequuntur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ex pro. Mel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ullum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laoreet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cu,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aliquam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ullamcorper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vis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ea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iudicabit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maluisset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ex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mel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. His in tale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saperet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quodsi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fabulas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vim in,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ei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ius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debet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homero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1397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ullet Points ">
            <a:extLst>
              <a:ext uri="{FF2B5EF4-FFF2-40B4-BE49-F238E27FC236}">
                <a16:creationId xmlns:a16="http://schemas.microsoft.com/office/drawing/2014/main" id="{506D478E-CBEA-43F8-5B40-597A8D300C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5679" y="839880"/>
            <a:ext cx="3606800" cy="3259354"/>
          </a:xfrm>
          <a:prstGeom prst="rect">
            <a:avLst/>
          </a:prstGeom>
        </p:spPr>
        <p:txBody>
          <a:bodyPr>
            <a:spAutoFit/>
          </a:bodyPr>
          <a:lstStyle>
            <a:lvl1pPr marL="283464" indent="-283464">
              <a:lnSpc>
                <a:spcPts val="4200"/>
              </a:lnSpc>
              <a:spcBef>
                <a:spcPts val="0"/>
              </a:spcBef>
              <a:buFont typeface="Calibri" panose="020B0604020202020204" pitchFamily="34" charset="0"/>
              <a:buChar char="•"/>
              <a:defRPr sz="26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  <a:lvl2pPr marL="649224" indent="-283464" defTabSz="1371600">
              <a:lnSpc>
                <a:spcPts val="4200"/>
              </a:lnSpc>
              <a:spcBef>
                <a:spcPts val="0"/>
              </a:spcBef>
              <a:buFont typeface="System Font Regular"/>
              <a:buChar char="-"/>
              <a:defRPr sz="26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2pPr>
            <a:lvl3pPr marL="1097280" indent="-283464">
              <a:lnSpc>
                <a:spcPts val="4200"/>
              </a:lnSpc>
              <a:spcBef>
                <a:spcPts val="0"/>
              </a:spcBef>
              <a:buFont typeface="System Font Regular"/>
              <a:buChar char="-"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3pPr>
            <a:lvl4pPr marL="1600200" indent="-228600">
              <a:buFont typeface="Calibri" panose="020B0604020202020204" pitchFamily="34" charset="0"/>
              <a:buChar char="•"/>
              <a:defRPr/>
            </a:lvl4pPr>
            <a:lvl5pPr marL="2057400" indent="-228600">
              <a:buFont typeface="Calibri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Bullet One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Bullet Two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Click to Edit Title">
            <a:extLst>
              <a:ext uri="{FF2B5EF4-FFF2-40B4-BE49-F238E27FC236}">
                <a16:creationId xmlns:a16="http://schemas.microsoft.com/office/drawing/2014/main" id="{2D1B5B0D-CC78-086C-2188-B66B472C95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390" y="357095"/>
            <a:ext cx="4363718" cy="618631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defRPr sz="3800" b="1">
                <a:solidFill>
                  <a:srgbClr val="3172AE"/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Bullet Points</a:t>
            </a:r>
          </a:p>
        </p:txBody>
      </p:sp>
      <p:sp>
        <p:nvSpPr>
          <p:cNvPr id="4" name="Title Subhead or department name">
            <a:extLst>
              <a:ext uri="{FF2B5EF4-FFF2-40B4-BE49-F238E27FC236}">
                <a16:creationId xmlns:a16="http://schemas.microsoft.com/office/drawing/2014/main" id="{56A8B033-4104-E833-30DB-E42DB41F5F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452" y="957182"/>
            <a:ext cx="3412389" cy="4524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600">
                <a:solidFill>
                  <a:schemeClr val="bg1">
                    <a:lumMod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B0604020202020204" pitchFamily="34" charset="0"/>
              <a:buNone/>
              <a:tabLst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Slide Title Subhead</a:t>
            </a:r>
          </a:p>
        </p:txBody>
      </p:sp>
    </p:spTree>
    <p:extLst>
      <p:ext uri="{BB962C8B-B14F-4D97-AF65-F5344CB8AC3E}">
        <p14:creationId xmlns:p14="http://schemas.microsoft.com/office/powerpoint/2010/main" val="126024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Title for Tables and Graph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Subhead or department name">
            <a:extLst>
              <a:ext uri="{FF2B5EF4-FFF2-40B4-BE49-F238E27FC236}">
                <a16:creationId xmlns:a16="http://schemas.microsoft.com/office/drawing/2014/main" id="{FA2DFCB2-FA00-5A9F-7212-5299E1B6E7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5349" y="950851"/>
            <a:ext cx="3412389" cy="4524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600">
                <a:solidFill>
                  <a:schemeClr val="bg1">
                    <a:lumMod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B0604020202020204" pitchFamily="34" charset="0"/>
              <a:buNone/>
              <a:tabLst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rPr>
              <a:t>Slide Title Subhead</a:t>
            </a:r>
          </a:p>
        </p:txBody>
      </p:sp>
      <p:sp>
        <p:nvSpPr>
          <p:cNvPr id="6" name="Click to Edit Title">
            <a:extLst>
              <a:ext uri="{FF2B5EF4-FFF2-40B4-BE49-F238E27FC236}">
                <a16:creationId xmlns:a16="http://schemas.microsoft.com/office/drawing/2014/main" id="{F7DBD260-BAA0-1208-B4B1-F244F98E83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5349" y="348696"/>
            <a:ext cx="4363718" cy="618631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defRPr sz="3800" b="1">
                <a:solidFill>
                  <a:srgbClr val="3172AE"/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8418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hidden="1">
            <a:extLst>
              <a:ext uri="{FF2B5EF4-FFF2-40B4-BE49-F238E27FC236}">
                <a16:creationId xmlns:a16="http://schemas.microsoft.com/office/drawing/2014/main" id="{5EA5C8D1-8C60-549B-8C35-0ADE0D19A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Image slide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68F18EF-9111-805D-639E-3B8E4DA459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50910" y="5053917"/>
            <a:ext cx="1680210" cy="1394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3172AE"/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Caption text</a:t>
            </a:r>
          </a:p>
        </p:txBody>
      </p:sp>
      <p:sp>
        <p:nvSpPr>
          <p:cNvPr id="3" name="Picture Placeholder 4" descr="Image Placeholder">
            <a:extLst>
              <a:ext uri="{FF2B5EF4-FFF2-40B4-BE49-F238E27FC236}">
                <a16:creationId xmlns:a16="http://schemas.microsoft.com/office/drawing/2014/main" id="{90A9B5A6-EEF1-85BE-64EE-4FB2AA13A70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12516" y="461318"/>
            <a:ext cx="7977860" cy="5177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033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ll Screen Image " hidden="1">
            <a:extLst>
              <a:ext uri="{FF2B5EF4-FFF2-40B4-BE49-F238E27FC236}">
                <a16:creationId xmlns:a16="http://schemas.microsoft.com/office/drawing/2014/main" id="{E8B99B13-7691-A73F-D3BF-4484C6E58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FULL SCREEN IMAGE</a:t>
            </a:r>
          </a:p>
        </p:txBody>
      </p:sp>
      <p:sp>
        <p:nvSpPr>
          <p:cNvPr id="3" name="Picture Placeholder 17" descr="Image Placeholder">
            <a:extLst>
              <a:ext uri="{FF2B5EF4-FFF2-40B4-BE49-F238E27FC236}">
                <a16:creationId xmlns:a16="http://schemas.microsoft.com/office/drawing/2014/main" id="{BDE0279E-56AC-178A-9173-75C460C2486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91999" cy="61225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4" name="Caption text">
            <a:extLst>
              <a:ext uri="{FF2B5EF4-FFF2-40B4-BE49-F238E27FC236}">
                <a16:creationId xmlns:a16="http://schemas.microsoft.com/office/drawing/2014/main" id="{172E58CD-BC97-D0EA-8D91-8B419909D9E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010899" y="0"/>
            <a:ext cx="2181100" cy="1270660"/>
          </a:xfrm>
          <a:prstGeom prst="rect">
            <a:avLst/>
          </a:prstGeom>
          <a:solidFill>
            <a:srgbClr val="3172AE"/>
          </a:solidFill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bg1"/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text</a:t>
            </a:r>
          </a:p>
        </p:txBody>
      </p:sp>
    </p:spTree>
    <p:extLst>
      <p:ext uri="{BB962C8B-B14F-4D97-AF65-F5344CB8AC3E}">
        <p14:creationId xmlns:p14="http://schemas.microsoft.com/office/powerpoint/2010/main" val="331909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id="{05A4F640-B8FB-70FB-5815-E87CB0C06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3 Image Slide</a:t>
            </a:r>
            <a:br>
              <a:rPr lang="en-US" dirty="0"/>
            </a:b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1CF9E1-C8BB-53E6-8CB7-14F15790DF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7037"/>
            <a:ext cx="9143626" cy="6865038"/>
          </a:xfrm>
          <a:custGeom>
            <a:avLst/>
            <a:gdLst>
              <a:gd name="connsiteX0" fmla="*/ 0 w 4006850"/>
              <a:gd name="connsiteY0" fmla="*/ 0 h 6881869"/>
              <a:gd name="connsiteX1" fmla="*/ 4006850 w 4006850"/>
              <a:gd name="connsiteY1" fmla="*/ 0 h 6881869"/>
              <a:gd name="connsiteX2" fmla="*/ 4006850 w 4006850"/>
              <a:gd name="connsiteY2" fmla="*/ 6881869 h 6881869"/>
              <a:gd name="connsiteX3" fmla="*/ 0 w 4006850"/>
              <a:gd name="connsiteY3" fmla="*/ 6881869 h 6881869"/>
              <a:gd name="connsiteX4" fmla="*/ 0 w 4006850"/>
              <a:gd name="connsiteY4" fmla="*/ 0 h 6881869"/>
              <a:gd name="connsiteX0" fmla="*/ 0 w 5970121"/>
              <a:gd name="connsiteY0" fmla="*/ 13447 h 6895316"/>
              <a:gd name="connsiteX1" fmla="*/ 5970121 w 5970121"/>
              <a:gd name="connsiteY1" fmla="*/ 0 h 6895316"/>
              <a:gd name="connsiteX2" fmla="*/ 4006850 w 5970121"/>
              <a:gd name="connsiteY2" fmla="*/ 6895316 h 6895316"/>
              <a:gd name="connsiteX3" fmla="*/ 0 w 5970121"/>
              <a:gd name="connsiteY3" fmla="*/ 6895316 h 6895316"/>
              <a:gd name="connsiteX4" fmla="*/ 0 w 5970121"/>
              <a:gd name="connsiteY4" fmla="*/ 13447 h 6895316"/>
              <a:gd name="connsiteX0" fmla="*/ 0 w 9143626"/>
              <a:gd name="connsiteY0" fmla="*/ 13447 h 6908763"/>
              <a:gd name="connsiteX1" fmla="*/ 5970121 w 9143626"/>
              <a:gd name="connsiteY1" fmla="*/ 0 h 6908763"/>
              <a:gd name="connsiteX2" fmla="*/ 9143626 w 9143626"/>
              <a:gd name="connsiteY2" fmla="*/ 6908763 h 6908763"/>
              <a:gd name="connsiteX3" fmla="*/ 0 w 9143626"/>
              <a:gd name="connsiteY3" fmla="*/ 6895316 h 6908763"/>
              <a:gd name="connsiteX4" fmla="*/ 0 w 9143626"/>
              <a:gd name="connsiteY4" fmla="*/ 13447 h 6908763"/>
              <a:gd name="connsiteX0" fmla="*/ 0 w 9143626"/>
              <a:gd name="connsiteY0" fmla="*/ 43725 h 6908763"/>
              <a:gd name="connsiteX1" fmla="*/ 5970121 w 9143626"/>
              <a:gd name="connsiteY1" fmla="*/ 0 h 6908763"/>
              <a:gd name="connsiteX2" fmla="*/ 9143626 w 9143626"/>
              <a:gd name="connsiteY2" fmla="*/ 6908763 h 6908763"/>
              <a:gd name="connsiteX3" fmla="*/ 0 w 9143626"/>
              <a:gd name="connsiteY3" fmla="*/ 6895316 h 6908763"/>
              <a:gd name="connsiteX4" fmla="*/ 0 w 9143626"/>
              <a:gd name="connsiteY4" fmla="*/ 43725 h 6908763"/>
              <a:gd name="connsiteX0" fmla="*/ 0 w 9143626"/>
              <a:gd name="connsiteY0" fmla="*/ 0 h 6865038"/>
              <a:gd name="connsiteX1" fmla="*/ 5994344 w 9143626"/>
              <a:gd name="connsiteY1" fmla="*/ 4720 h 6865038"/>
              <a:gd name="connsiteX2" fmla="*/ 9143626 w 9143626"/>
              <a:gd name="connsiteY2" fmla="*/ 6865038 h 6865038"/>
              <a:gd name="connsiteX3" fmla="*/ 0 w 9143626"/>
              <a:gd name="connsiteY3" fmla="*/ 6851591 h 6865038"/>
              <a:gd name="connsiteX4" fmla="*/ 0 w 9143626"/>
              <a:gd name="connsiteY4" fmla="*/ 0 h 6865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3626" h="6865038">
                <a:moveTo>
                  <a:pt x="0" y="0"/>
                </a:moveTo>
                <a:lnTo>
                  <a:pt x="5994344" y="4720"/>
                </a:lnTo>
                <a:lnTo>
                  <a:pt x="9143626" y="6865038"/>
                </a:lnTo>
                <a:lnTo>
                  <a:pt x="0" y="6851591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BBA80E4-CEF7-B197-A17B-A0FBDFDC61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36081" y="-15285"/>
            <a:ext cx="5971032" cy="3361736"/>
          </a:xfrm>
          <a:custGeom>
            <a:avLst/>
            <a:gdLst>
              <a:gd name="connsiteX0" fmla="*/ 0 w 6045187"/>
              <a:gd name="connsiteY0" fmla="*/ 3404126 h 3404126"/>
              <a:gd name="connsiteX1" fmla="*/ 851032 w 6045187"/>
              <a:gd name="connsiteY1" fmla="*/ 0 h 3404126"/>
              <a:gd name="connsiteX2" fmla="*/ 5194156 w 6045187"/>
              <a:gd name="connsiteY2" fmla="*/ 0 h 3404126"/>
              <a:gd name="connsiteX3" fmla="*/ 6045187 w 6045187"/>
              <a:gd name="connsiteY3" fmla="*/ 3404126 h 3404126"/>
              <a:gd name="connsiteX4" fmla="*/ 0 w 6045187"/>
              <a:gd name="connsiteY4" fmla="*/ 3404126 h 3404126"/>
              <a:gd name="connsiteX0" fmla="*/ 789509 w 5194155"/>
              <a:gd name="connsiteY0" fmla="*/ 3404126 h 3404126"/>
              <a:gd name="connsiteX1" fmla="*/ 0 w 5194155"/>
              <a:gd name="connsiteY1" fmla="*/ 0 h 3404126"/>
              <a:gd name="connsiteX2" fmla="*/ 4343124 w 5194155"/>
              <a:gd name="connsiteY2" fmla="*/ 0 h 3404126"/>
              <a:gd name="connsiteX3" fmla="*/ 5194155 w 5194155"/>
              <a:gd name="connsiteY3" fmla="*/ 3404126 h 3404126"/>
              <a:gd name="connsiteX4" fmla="*/ 789509 w 5194155"/>
              <a:gd name="connsiteY4" fmla="*/ 3404126 h 3404126"/>
              <a:gd name="connsiteX0" fmla="*/ 1461862 w 5866508"/>
              <a:gd name="connsiteY0" fmla="*/ 3404126 h 3404126"/>
              <a:gd name="connsiteX1" fmla="*/ 0 w 5866508"/>
              <a:gd name="connsiteY1" fmla="*/ 0 h 3404126"/>
              <a:gd name="connsiteX2" fmla="*/ 5015477 w 5866508"/>
              <a:gd name="connsiteY2" fmla="*/ 0 h 3404126"/>
              <a:gd name="connsiteX3" fmla="*/ 5866508 w 5866508"/>
              <a:gd name="connsiteY3" fmla="*/ 3404126 h 3404126"/>
              <a:gd name="connsiteX4" fmla="*/ 1461862 w 5866508"/>
              <a:gd name="connsiteY4" fmla="*/ 3404126 h 3404126"/>
              <a:gd name="connsiteX0" fmla="*/ 1596333 w 6000979"/>
              <a:gd name="connsiteY0" fmla="*/ 3404126 h 3404126"/>
              <a:gd name="connsiteX1" fmla="*/ 0 w 6000979"/>
              <a:gd name="connsiteY1" fmla="*/ 0 h 3404126"/>
              <a:gd name="connsiteX2" fmla="*/ 5149948 w 6000979"/>
              <a:gd name="connsiteY2" fmla="*/ 0 h 3404126"/>
              <a:gd name="connsiteX3" fmla="*/ 6000979 w 6000979"/>
              <a:gd name="connsiteY3" fmla="*/ 3404126 h 3404126"/>
              <a:gd name="connsiteX4" fmla="*/ 1596333 w 6000979"/>
              <a:gd name="connsiteY4" fmla="*/ 3404126 h 3404126"/>
              <a:gd name="connsiteX0" fmla="*/ 1596333 w 6010560"/>
              <a:gd name="connsiteY0" fmla="*/ 3404126 h 3404126"/>
              <a:gd name="connsiteX1" fmla="*/ 0 w 6010560"/>
              <a:gd name="connsiteY1" fmla="*/ 0 h 3404126"/>
              <a:gd name="connsiteX2" fmla="*/ 6010560 w 6010560"/>
              <a:gd name="connsiteY2" fmla="*/ 0 h 3404126"/>
              <a:gd name="connsiteX3" fmla="*/ 6000979 w 6010560"/>
              <a:gd name="connsiteY3" fmla="*/ 3404126 h 3404126"/>
              <a:gd name="connsiteX4" fmla="*/ 1596333 w 6010560"/>
              <a:gd name="connsiteY4" fmla="*/ 3404126 h 3404126"/>
              <a:gd name="connsiteX0" fmla="*/ 1596333 w 6010560"/>
              <a:gd name="connsiteY0" fmla="*/ 3404126 h 3404126"/>
              <a:gd name="connsiteX1" fmla="*/ 0 w 6010560"/>
              <a:gd name="connsiteY1" fmla="*/ 0 h 3404126"/>
              <a:gd name="connsiteX2" fmla="*/ 6010560 w 6010560"/>
              <a:gd name="connsiteY2" fmla="*/ 0 h 3404126"/>
              <a:gd name="connsiteX3" fmla="*/ 6000979 w 6010560"/>
              <a:gd name="connsiteY3" fmla="*/ 3404126 h 3404126"/>
              <a:gd name="connsiteX4" fmla="*/ 1596333 w 6010560"/>
              <a:gd name="connsiteY4" fmla="*/ 3404126 h 3404126"/>
              <a:gd name="connsiteX0" fmla="*/ 1578166 w 5992393"/>
              <a:gd name="connsiteY0" fmla="*/ 3404126 h 3404126"/>
              <a:gd name="connsiteX1" fmla="*/ 0 w 5992393"/>
              <a:gd name="connsiteY1" fmla="*/ 42390 h 3404126"/>
              <a:gd name="connsiteX2" fmla="*/ 5992393 w 5992393"/>
              <a:gd name="connsiteY2" fmla="*/ 0 h 3404126"/>
              <a:gd name="connsiteX3" fmla="*/ 5982812 w 5992393"/>
              <a:gd name="connsiteY3" fmla="*/ 3404126 h 3404126"/>
              <a:gd name="connsiteX4" fmla="*/ 1578166 w 5992393"/>
              <a:gd name="connsiteY4" fmla="*/ 3404126 h 3404126"/>
              <a:gd name="connsiteX0" fmla="*/ 1578166 w 5986338"/>
              <a:gd name="connsiteY0" fmla="*/ 3361737 h 3361737"/>
              <a:gd name="connsiteX1" fmla="*/ 0 w 5986338"/>
              <a:gd name="connsiteY1" fmla="*/ 1 h 3361737"/>
              <a:gd name="connsiteX2" fmla="*/ 5986338 w 5986338"/>
              <a:gd name="connsiteY2" fmla="*/ 0 h 3361737"/>
              <a:gd name="connsiteX3" fmla="*/ 5982812 w 5986338"/>
              <a:gd name="connsiteY3" fmla="*/ 3361737 h 3361737"/>
              <a:gd name="connsiteX4" fmla="*/ 1578166 w 5986338"/>
              <a:gd name="connsiteY4" fmla="*/ 3361737 h 3361737"/>
              <a:gd name="connsiteX0" fmla="*/ 1578166 w 5986338"/>
              <a:gd name="connsiteY0" fmla="*/ 3361737 h 3361737"/>
              <a:gd name="connsiteX1" fmla="*/ 0 w 5986338"/>
              <a:gd name="connsiteY1" fmla="*/ 1 h 3361737"/>
              <a:gd name="connsiteX2" fmla="*/ 5986338 w 5986338"/>
              <a:gd name="connsiteY2" fmla="*/ 0 h 3361737"/>
              <a:gd name="connsiteX3" fmla="*/ 5970701 w 5986338"/>
              <a:gd name="connsiteY3" fmla="*/ 3361737 h 3361737"/>
              <a:gd name="connsiteX4" fmla="*/ 1578166 w 5986338"/>
              <a:gd name="connsiteY4" fmla="*/ 3361737 h 3361737"/>
              <a:gd name="connsiteX0" fmla="*/ 1578166 w 5971032"/>
              <a:gd name="connsiteY0" fmla="*/ 3361736 h 3361736"/>
              <a:gd name="connsiteX1" fmla="*/ 0 w 5971032"/>
              <a:gd name="connsiteY1" fmla="*/ 0 h 3361736"/>
              <a:gd name="connsiteX2" fmla="*/ 5956060 w 5971032"/>
              <a:gd name="connsiteY2" fmla="*/ 24222 h 3361736"/>
              <a:gd name="connsiteX3" fmla="*/ 5970701 w 5971032"/>
              <a:gd name="connsiteY3" fmla="*/ 3361736 h 3361736"/>
              <a:gd name="connsiteX4" fmla="*/ 1578166 w 5971032"/>
              <a:gd name="connsiteY4" fmla="*/ 3361736 h 3361736"/>
              <a:gd name="connsiteX0" fmla="*/ 1578166 w 5971032"/>
              <a:gd name="connsiteY0" fmla="*/ 3361736 h 3361736"/>
              <a:gd name="connsiteX1" fmla="*/ 0 w 5971032"/>
              <a:gd name="connsiteY1" fmla="*/ 0 h 3361736"/>
              <a:gd name="connsiteX2" fmla="*/ 5956060 w 5971032"/>
              <a:gd name="connsiteY2" fmla="*/ 18167 h 3361736"/>
              <a:gd name="connsiteX3" fmla="*/ 5970701 w 5971032"/>
              <a:gd name="connsiteY3" fmla="*/ 3361736 h 3361736"/>
              <a:gd name="connsiteX4" fmla="*/ 1578166 w 5971032"/>
              <a:gd name="connsiteY4" fmla="*/ 3361736 h 3361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71032" h="3361736">
                <a:moveTo>
                  <a:pt x="1578166" y="3361736"/>
                </a:moveTo>
                <a:lnTo>
                  <a:pt x="0" y="0"/>
                </a:lnTo>
                <a:lnTo>
                  <a:pt x="5956060" y="18167"/>
                </a:lnTo>
                <a:cubicBezTo>
                  <a:pt x="5952866" y="1152876"/>
                  <a:pt x="5973895" y="2227027"/>
                  <a:pt x="5970701" y="3361736"/>
                </a:cubicBezTo>
                <a:lnTo>
                  <a:pt x="1578166" y="3361736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1A72B707-7C36-ECD6-0B49-20B7055634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25690" y="3592232"/>
            <a:ext cx="4248810" cy="3278094"/>
          </a:xfrm>
          <a:custGeom>
            <a:avLst/>
            <a:gdLst>
              <a:gd name="connsiteX0" fmla="*/ 0 w 6045187"/>
              <a:gd name="connsiteY0" fmla="*/ 3404126 h 3404126"/>
              <a:gd name="connsiteX1" fmla="*/ 851032 w 6045187"/>
              <a:gd name="connsiteY1" fmla="*/ 0 h 3404126"/>
              <a:gd name="connsiteX2" fmla="*/ 5194156 w 6045187"/>
              <a:gd name="connsiteY2" fmla="*/ 0 h 3404126"/>
              <a:gd name="connsiteX3" fmla="*/ 6045187 w 6045187"/>
              <a:gd name="connsiteY3" fmla="*/ 3404126 h 3404126"/>
              <a:gd name="connsiteX4" fmla="*/ 0 w 6045187"/>
              <a:gd name="connsiteY4" fmla="*/ 3404126 h 3404126"/>
              <a:gd name="connsiteX0" fmla="*/ 789509 w 5194155"/>
              <a:gd name="connsiteY0" fmla="*/ 3404126 h 3404126"/>
              <a:gd name="connsiteX1" fmla="*/ 0 w 5194155"/>
              <a:gd name="connsiteY1" fmla="*/ 0 h 3404126"/>
              <a:gd name="connsiteX2" fmla="*/ 4343124 w 5194155"/>
              <a:gd name="connsiteY2" fmla="*/ 0 h 3404126"/>
              <a:gd name="connsiteX3" fmla="*/ 5194155 w 5194155"/>
              <a:gd name="connsiteY3" fmla="*/ 3404126 h 3404126"/>
              <a:gd name="connsiteX4" fmla="*/ 789509 w 5194155"/>
              <a:gd name="connsiteY4" fmla="*/ 3404126 h 3404126"/>
              <a:gd name="connsiteX0" fmla="*/ 1461862 w 5866508"/>
              <a:gd name="connsiteY0" fmla="*/ 3404126 h 3404126"/>
              <a:gd name="connsiteX1" fmla="*/ 0 w 5866508"/>
              <a:gd name="connsiteY1" fmla="*/ 0 h 3404126"/>
              <a:gd name="connsiteX2" fmla="*/ 5015477 w 5866508"/>
              <a:gd name="connsiteY2" fmla="*/ 0 h 3404126"/>
              <a:gd name="connsiteX3" fmla="*/ 5866508 w 5866508"/>
              <a:gd name="connsiteY3" fmla="*/ 3404126 h 3404126"/>
              <a:gd name="connsiteX4" fmla="*/ 1461862 w 5866508"/>
              <a:gd name="connsiteY4" fmla="*/ 3404126 h 3404126"/>
              <a:gd name="connsiteX0" fmla="*/ 1596333 w 6000979"/>
              <a:gd name="connsiteY0" fmla="*/ 3404126 h 3404126"/>
              <a:gd name="connsiteX1" fmla="*/ 0 w 6000979"/>
              <a:gd name="connsiteY1" fmla="*/ 0 h 3404126"/>
              <a:gd name="connsiteX2" fmla="*/ 5149948 w 6000979"/>
              <a:gd name="connsiteY2" fmla="*/ 0 h 3404126"/>
              <a:gd name="connsiteX3" fmla="*/ 6000979 w 6000979"/>
              <a:gd name="connsiteY3" fmla="*/ 3404126 h 3404126"/>
              <a:gd name="connsiteX4" fmla="*/ 1596333 w 6000979"/>
              <a:gd name="connsiteY4" fmla="*/ 3404126 h 3404126"/>
              <a:gd name="connsiteX0" fmla="*/ 1596333 w 6010560"/>
              <a:gd name="connsiteY0" fmla="*/ 3404126 h 3404126"/>
              <a:gd name="connsiteX1" fmla="*/ 0 w 6010560"/>
              <a:gd name="connsiteY1" fmla="*/ 0 h 3404126"/>
              <a:gd name="connsiteX2" fmla="*/ 6010560 w 6010560"/>
              <a:gd name="connsiteY2" fmla="*/ 0 h 3404126"/>
              <a:gd name="connsiteX3" fmla="*/ 6000979 w 6010560"/>
              <a:gd name="connsiteY3" fmla="*/ 3404126 h 3404126"/>
              <a:gd name="connsiteX4" fmla="*/ 1596333 w 6010560"/>
              <a:gd name="connsiteY4" fmla="*/ 3404126 h 3404126"/>
              <a:gd name="connsiteX0" fmla="*/ 1596333 w 6010560"/>
              <a:gd name="connsiteY0" fmla="*/ 3404126 h 3404126"/>
              <a:gd name="connsiteX1" fmla="*/ 0 w 6010560"/>
              <a:gd name="connsiteY1" fmla="*/ 0 h 3404126"/>
              <a:gd name="connsiteX2" fmla="*/ 6010560 w 6010560"/>
              <a:gd name="connsiteY2" fmla="*/ 0 h 3404126"/>
              <a:gd name="connsiteX3" fmla="*/ 6000979 w 6010560"/>
              <a:gd name="connsiteY3" fmla="*/ 3404126 h 3404126"/>
              <a:gd name="connsiteX4" fmla="*/ 1596333 w 6010560"/>
              <a:gd name="connsiteY4" fmla="*/ 3404126 h 3404126"/>
              <a:gd name="connsiteX0" fmla="*/ 1555992 w 6010560"/>
              <a:gd name="connsiteY0" fmla="*/ 3323444 h 3404126"/>
              <a:gd name="connsiteX1" fmla="*/ 0 w 6010560"/>
              <a:gd name="connsiteY1" fmla="*/ 0 h 3404126"/>
              <a:gd name="connsiteX2" fmla="*/ 6010560 w 6010560"/>
              <a:gd name="connsiteY2" fmla="*/ 0 h 3404126"/>
              <a:gd name="connsiteX3" fmla="*/ 6000979 w 6010560"/>
              <a:gd name="connsiteY3" fmla="*/ 3404126 h 3404126"/>
              <a:gd name="connsiteX4" fmla="*/ 1555992 w 6010560"/>
              <a:gd name="connsiteY4" fmla="*/ 3323444 h 3404126"/>
              <a:gd name="connsiteX0" fmla="*/ 1555992 w 6010560"/>
              <a:gd name="connsiteY0" fmla="*/ 3323444 h 3323444"/>
              <a:gd name="connsiteX1" fmla="*/ 0 w 6010560"/>
              <a:gd name="connsiteY1" fmla="*/ 0 h 3323444"/>
              <a:gd name="connsiteX2" fmla="*/ 6010560 w 6010560"/>
              <a:gd name="connsiteY2" fmla="*/ 0 h 3323444"/>
              <a:gd name="connsiteX3" fmla="*/ 6000979 w 6010560"/>
              <a:gd name="connsiteY3" fmla="*/ 3309997 h 3323444"/>
              <a:gd name="connsiteX4" fmla="*/ 1555992 w 6010560"/>
              <a:gd name="connsiteY4" fmla="*/ 3323444 h 3323444"/>
              <a:gd name="connsiteX0" fmla="*/ 1529097 w 6010560"/>
              <a:gd name="connsiteY0" fmla="*/ 3256209 h 3309997"/>
              <a:gd name="connsiteX1" fmla="*/ 0 w 6010560"/>
              <a:gd name="connsiteY1" fmla="*/ 0 h 3309997"/>
              <a:gd name="connsiteX2" fmla="*/ 6010560 w 6010560"/>
              <a:gd name="connsiteY2" fmla="*/ 0 h 3309997"/>
              <a:gd name="connsiteX3" fmla="*/ 6000979 w 6010560"/>
              <a:gd name="connsiteY3" fmla="*/ 3309997 h 3309997"/>
              <a:gd name="connsiteX4" fmla="*/ 1529097 w 6010560"/>
              <a:gd name="connsiteY4" fmla="*/ 3256209 h 3309997"/>
              <a:gd name="connsiteX0" fmla="*/ 1529097 w 6010560"/>
              <a:gd name="connsiteY0" fmla="*/ 3256209 h 3269656"/>
              <a:gd name="connsiteX1" fmla="*/ 0 w 6010560"/>
              <a:gd name="connsiteY1" fmla="*/ 0 h 3269656"/>
              <a:gd name="connsiteX2" fmla="*/ 6010560 w 6010560"/>
              <a:gd name="connsiteY2" fmla="*/ 0 h 3269656"/>
              <a:gd name="connsiteX3" fmla="*/ 6000979 w 6010560"/>
              <a:gd name="connsiteY3" fmla="*/ 3269656 h 3269656"/>
              <a:gd name="connsiteX4" fmla="*/ 1529097 w 6010560"/>
              <a:gd name="connsiteY4" fmla="*/ 3256209 h 3269656"/>
              <a:gd name="connsiteX0" fmla="*/ 1529097 w 6000983"/>
              <a:gd name="connsiteY0" fmla="*/ 3256209 h 3269656"/>
              <a:gd name="connsiteX1" fmla="*/ 0 w 6000983"/>
              <a:gd name="connsiteY1" fmla="*/ 0 h 3269656"/>
              <a:gd name="connsiteX2" fmla="*/ 4343125 w 6000983"/>
              <a:gd name="connsiteY2" fmla="*/ 0 h 3269656"/>
              <a:gd name="connsiteX3" fmla="*/ 6000979 w 6000983"/>
              <a:gd name="connsiteY3" fmla="*/ 3269656 h 3269656"/>
              <a:gd name="connsiteX4" fmla="*/ 1529097 w 6000983"/>
              <a:gd name="connsiteY4" fmla="*/ 3256209 h 3269656"/>
              <a:gd name="connsiteX0" fmla="*/ 1529097 w 4347615"/>
              <a:gd name="connsiteY0" fmla="*/ 3256209 h 3269656"/>
              <a:gd name="connsiteX1" fmla="*/ 0 w 4347615"/>
              <a:gd name="connsiteY1" fmla="*/ 0 h 3269656"/>
              <a:gd name="connsiteX2" fmla="*/ 4343125 w 4347615"/>
              <a:gd name="connsiteY2" fmla="*/ 0 h 3269656"/>
              <a:gd name="connsiteX3" fmla="*/ 4346991 w 4347615"/>
              <a:gd name="connsiteY3" fmla="*/ 3269656 h 3269656"/>
              <a:gd name="connsiteX4" fmla="*/ 1529097 w 4347615"/>
              <a:gd name="connsiteY4" fmla="*/ 3256209 h 3269656"/>
              <a:gd name="connsiteX0" fmla="*/ 1539729 w 4347615"/>
              <a:gd name="connsiteY0" fmla="*/ 3282790 h 3282790"/>
              <a:gd name="connsiteX1" fmla="*/ 0 w 4347615"/>
              <a:gd name="connsiteY1" fmla="*/ 0 h 3282790"/>
              <a:gd name="connsiteX2" fmla="*/ 4343125 w 4347615"/>
              <a:gd name="connsiteY2" fmla="*/ 0 h 3282790"/>
              <a:gd name="connsiteX3" fmla="*/ 4346991 w 4347615"/>
              <a:gd name="connsiteY3" fmla="*/ 3269656 h 3282790"/>
              <a:gd name="connsiteX4" fmla="*/ 1539729 w 4347615"/>
              <a:gd name="connsiteY4" fmla="*/ 3282790 h 3282790"/>
              <a:gd name="connsiteX0" fmla="*/ 1539729 w 4347615"/>
              <a:gd name="connsiteY0" fmla="*/ 3282790 h 3296238"/>
              <a:gd name="connsiteX1" fmla="*/ 0 w 4347615"/>
              <a:gd name="connsiteY1" fmla="*/ 0 h 3296238"/>
              <a:gd name="connsiteX2" fmla="*/ 4343125 w 4347615"/>
              <a:gd name="connsiteY2" fmla="*/ 0 h 3296238"/>
              <a:gd name="connsiteX3" fmla="*/ 4346991 w 4347615"/>
              <a:gd name="connsiteY3" fmla="*/ 3296238 h 3296238"/>
              <a:gd name="connsiteX4" fmla="*/ 1539729 w 4347615"/>
              <a:gd name="connsiteY4" fmla="*/ 3282790 h 3296238"/>
              <a:gd name="connsiteX0" fmla="*/ 1539729 w 4347086"/>
              <a:gd name="connsiteY0" fmla="*/ 3282790 h 3296238"/>
              <a:gd name="connsiteX1" fmla="*/ 0 w 4347086"/>
              <a:gd name="connsiteY1" fmla="*/ 0 h 3296238"/>
              <a:gd name="connsiteX2" fmla="*/ 4275392 w 4347086"/>
              <a:gd name="connsiteY2" fmla="*/ 0 h 3296238"/>
              <a:gd name="connsiteX3" fmla="*/ 4346991 w 4347086"/>
              <a:gd name="connsiteY3" fmla="*/ 3296238 h 3296238"/>
              <a:gd name="connsiteX4" fmla="*/ 1539729 w 4347086"/>
              <a:gd name="connsiteY4" fmla="*/ 3282790 h 3296238"/>
              <a:gd name="connsiteX0" fmla="*/ 1539729 w 4275392"/>
              <a:gd name="connsiteY0" fmla="*/ 3282790 h 3296238"/>
              <a:gd name="connsiteX1" fmla="*/ 0 w 4275392"/>
              <a:gd name="connsiteY1" fmla="*/ 0 h 3296238"/>
              <a:gd name="connsiteX2" fmla="*/ 4275392 w 4275392"/>
              <a:gd name="connsiteY2" fmla="*/ 0 h 3296238"/>
              <a:gd name="connsiteX3" fmla="*/ 4267969 w 4275392"/>
              <a:gd name="connsiteY3" fmla="*/ 3296238 h 3296238"/>
              <a:gd name="connsiteX4" fmla="*/ 1539729 w 4275392"/>
              <a:gd name="connsiteY4" fmla="*/ 3282790 h 3296238"/>
              <a:gd name="connsiteX0" fmla="*/ 1539729 w 4268246"/>
              <a:gd name="connsiteY0" fmla="*/ 3282790 h 3296238"/>
              <a:gd name="connsiteX1" fmla="*/ 0 w 4268246"/>
              <a:gd name="connsiteY1" fmla="*/ 0 h 3296238"/>
              <a:gd name="connsiteX2" fmla="*/ 4248810 w 4268246"/>
              <a:gd name="connsiteY2" fmla="*/ 0 h 3296238"/>
              <a:gd name="connsiteX3" fmla="*/ 4267969 w 4268246"/>
              <a:gd name="connsiteY3" fmla="*/ 3296238 h 3296238"/>
              <a:gd name="connsiteX4" fmla="*/ 1539729 w 4268246"/>
              <a:gd name="connsiteY4" fmla="*/ 3282790 h 3296238"/>
              <a:gd name="connsiteX0" fmla="*/ 1539729 w 4248810"/>
              <a:gd name="connsiteY0" fmla="*/ 3282790 h 3282790"/>
              <a:gd name="connsiteX1" fmla="*/ 0 w 4248810"/>
              <a:gd name="connsiteY1" fmla="*/ 0 h 3282790"/>
              <a:gd name="connsiteX2" fmla="*/ 4248810 w 4248810"/>
              <a:gd name="connsiteY2" fmla="*/ 0 h 3282790"/>
              <a:gd name="connsiteX3" fmla="*/ 4236071 w 4248810"/>
              <a:gd name="connsiteY3" fmla="*/ 3274973 h 3282790"/>
              <a:gd name="connsiteX4" fmla="*/ 1539729 w 4248810"/>
              <a:gd name="connsiteY4" fmla="*/ 3282790 h 3282790"/>
              <a:gd name="connsiteX0" fmla="*/ 1534412 w 4248810"/>
              <a:gd name="connsiteY0" fmla="*/ 3272157 h 3274973"/>
              <a:gd name="connsiteX1" fmla="*/ 0 w 4248810"/>
              <a:gd name="connsiteY1" fmla="*/ 0 h 3274973"/>
              <a:gd name="connsiteX2" fmla="*/ 4248810 w 4248810"/>
              <a:gd name="connsiteY2" fmla="*/ 0 h 3274973"/>
              <a:gd name="connsiteX3" fmla="*/ 4236071 w 4248810"/>
              <a:gd name="connsiteY3" fmla="*/ 3274973 h 3274973"/>
              <a:gd name="connsiteX4" fmla="*/ 1534412 w 4248810"/>
              <a:gd name="connsiteY4" fmla="*/ 3272157 h 3274973"/>
              <a:gd name="connsiteX0" fmla="*/ 1486911 w 4248810"/>
              <a:gd name="connsiteY0" fmla="*/ 3278094 h 3278094"/>
              <a:gd name="connsiteX1" fmla="*/ 0 w 4248810"/>
              <a:gd name="connsiteY1" fmla="*/ 0 h 3278094"/>
              <a:gd name="connsiteX2" fmla="*/ 4248810 w 4248810"/>
              <a:gd name="connsiteY2" fmla="*/ 0 h 3278094"/>
              <a:gd name="connsiteX3" fmla="*/ 4236071 w 4248810"/>
              <a:gd name="connsiteY3" fmla="*/ 3274973 h 3278094"/>
              <a:gd name="connsiteX4" fmla="*/ 1486911 w 4248810"/>
              <a:gd name="connsiteY4" fmla="*/ 3278094 h 32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810" h="3278094">
                <a:moveTo>
                  <a:pt x="1486911" y="3278094"/>
                </a:moveTo>
                <a:lnTo>
                  <a:pt x="0" y="0"/>
                </a:lnTo>
                <a:lnTo>
                  <a:pt x="4248810" y="0"/>
                </a:lnTo>
                <a:cubicBezTo>
                  <a:pt x="4245616" y="1134709"/>
                  <a:pt x="4239265" y="2140264"/>
                  <a:pt x="4236071" y="3274973"/>
                </a:cubicBezTo>
                <a:lnTo>
                  <a:pt x="1486911" y="3278094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Caption text">
            <a:extLst>
              <a:ext uri="{FF2B5EF4-FFF2-40B4-BE49-F238E27FC236}">
                <a16:creationId xmlns:a16="http://schemas.microsoft.com/office/drawing/2014/main" id="{0DE8C509-C12F-0D6D-D3B9-DD704095441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0" y="0"/>
            <a:ext cx="2181100" cy="127066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>
                <a:solidFill>
                  <a:srgbClr val="3172AE"/>
                </a:solidFill>
                <a:latin typeface="Calibri" panose="020B0604020202020204" pitchFamily="34" charset="0"/>
                <a:cs typeface="Calibri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text</a:t>
            </a:r>
          </a:p>
        </p:txBody>
      </p:sp>
    </p:spTree>
    <p:extLst>
      <p:ext uri="{BB962C8B-B14F-4D97-AF65-F5344CB8AC3E}">
        <p14:creationId xmlns:p14="http://schemas.microsoft.com/office/powerpoint/2010/main" val="90740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green and yellow squares  Description automatically generated">
            <a:extLst>
              <a:ext uri="{FF2B5EF4-FFF2-40B4-BE49-F238E27FC236}">
                <a16:creationId xmlns:a16="http://schemas.microsoft.com/office/drawing/2014/main" id="{47203D4E-3E31-637A-41E4-9C79F3E6A5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86834" cy="6855094"/>
          </a:xfrm>
          <a:prstGeom prst="rect">
            <a:avLst/>
          </a:prstGeom>
        </p:spPr>
      </p:pic>
      <p:pic>
        <p:nvPicPr>
          <p:cNvPr id="4" name="Picture 3" descr="Blue text on a black background  Description automatically generated">
            <a:extLst>
              <a:ext uri="{FF2B5EF4-FFF2-40B4-BE49-F238E27FC236}">
                <a16:creationId xmlns:a16="http://schemas.microsoft.com/office/drawing/2014/main" id="{1DD13B68-307E-1F4D-8324-F536B1DEA2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66" y="10353"/>
            <a:ext cx="2296899" cy="149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alibri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and green squares  Description automatically generated">
            <a:extLst>
              <a:ext uri="{FF2B5EF4-FFF2-40B4-BE49-F238E27FC236}">
                <a16:creationId xmlns:a16="http://schemas.microsoft.com/office/drawing/2014/main" id="{838D4C41-C3EC-5A64-0ABC-2A2BF95BAE9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 flipV="1">
            <a:off x="0" y="69574"/>
            <a:ext cx="12192000" cy="68580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09E4D5C-9B53-A363-01B7-19A206E0E676}"/>
              </a:ext>
            </a:extLst>
          </p:cNvPr>
          <p:cNvSpPr txBox="1">
            <a:spLocks/>
          </p:cNvSpPr>
          <p:nvPr userDrawn="1"/>
        </p:nvSpPr>
        <p:spPr>
          <a:xfrm>
            <a:off x="1328896" y="6334130"/>
            <a:ext cx="6979920" cy="27705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Calibri" panose="020B0604020202020204" pitchFamily="34" charset="0"/>
                <a:ea typeface="+mn-ea"/>
                <a:cs typeface="Calibri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Department of Biology</a:t>
            </a:r>
          </a:p>
        </p:txBody>
      </p:sp>
      <p:pic>
        <p:nvPicPr>
          <p:cNvPr id="6" name="Picture 5" descr="Blue text on a black background  Description automatically generated">
            <a:extLst>
              <a:ext uri="{FF2B5EF4-FFF2-40B4-BE49-F238E27FC236}">
                <a16:creationId xmlns:a16="http://schemas.microsoft.com/office/drawing/2014/main" id="{D4169D26-9FA1-18CE-84B8-BF1B03A3C2B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8487" y="6025662"/>
            <a:ext cx="1280520" cy="83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6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6" r:id="rId2"/>
    <p:sldLayoutId id="2147483717" r:id="rId3"/>
    <p:sldLayoutId id="2147483718" r:id="rId4"/>
    <p:sldLayoutId id="214748371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alibri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609E4D5C-9B53-A363-01B7-19A206E0E676}"/>
              </a:ext>
            </a:extLst>
          </p:cNvPr>
          <p:cNvSpPr txBox="1">
            <a:spLocks/>
          </p:cNvSpPr>
          <p:nvPr userDrawn="1"/>
        </p:nvSpPr>
        <p:spPr>
          <a:xfrm>
            <a:off x="1328896" y="6334130"/>
            <a:ext cx="6979920" cy="27705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Calibri" panose="020B0604020202020204" pitchFamily="34" charset="0"/>
                <a:ea typeface="+mn-ea"/>
                <a:cs typeface="Calibri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School, department, or center name</a:t>
            </a:r>
          </a:p>
        </p:txBody>
      </p:sp>
      <p:pic>
        <p:nvPicPr>
          <p:cNvPr id="2" name="Picture 1" descr="Blue text on a black background  Description automatically generated">
            <a:extLst>
              <a:ext uri="{FF2B5EF4-FFF2-40B4-BE49-F238E27FC236}">
                <a16:creationId xmlns:a16="http://schemas.microsoft.com/office/drawing/2014/main" id="{D55BDAAC-2064-0DAA-9CED-C65EEA8BE9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87" y="6025662"/>
            <a:ext cx="1280520" cy="83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2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alibri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74E424C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74E424C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tguides.it.tufts.edu/hpc/slurm/interactiv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ondemand-prod.pax.tufts.edu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A4F7F3-4D87-7012-A102-59C39C352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152" y="2146609"/>
            <a:ext cx="9544786" cy="1089529"/>
          </a:xfrm>
        </p:spPr>
        <p:txBody>
          <a:bodyPr/>
          <a:lstStyle/>
          <a:p>
            <a:r>
              <a:rPr lang="en-US" sz="4000" b="1" dirty="0">
                <a:latin typeface="Calibri" panose="020B0604020202020204" pitchFamily="34" charset="0"/>
                <a:cs typeface="Calibri" panose="020B0604020202020204" pitchFamily="34" charset="0"/>
              </a:rPr>
              <a:t>RNA-Seq analysis on Tufts HPC</a:t>
            </a:r>
            <a:br>
              <a:rPr lang="en-US" sz="4000" dirty="0">
                <a:latin typeface="Calibri" panose="020B0604020202020204" pitchFamily="34" charset="0"/>
                <a:cs typeface="Calibri" panose="020B0604020202020204" pitchFamily="34" charset="0"/>
              </a:rPr>
            </a:br>
            <a:r>
              <a:rPr lang="en-US" sz="3200" dirty="0">
                <a:latin typeface="Calibri" panose="020B0604020202020204" pitchFamily="34" charset="0"/>
                <a:cs typeface="Calibri" panose="020B0604020202020204" pitchFamily="34" charset="0"/>
              </a:rPr>
              <a:t>Part1 : HPC, </a:t>
            </a:r>
            <a:r>
              <a:rPr lang="en-US" sz="3200" dirty="0" err="1">
                <a:latin typeface="Calibri" panose="020B0604020202020204" pitchFamily="34" charset="0"/>
                <a:cs typeface="Calibri" panose="020B0604020202020204" pitchFamily="34" charset="0"/>
              </a:rPr>
              <a:t>Nextflow</a:t>
            </a:r>
            <a:r>
              <a:rPr lang="en-US" sz="3200" dirty="0">
                <a:latin typeface="Calibri" panose="020B0604020202020204" pitchFamily="34" charset="0"/>
                <a:cs typeface="Calibri" panose="020B0604020202020204" pitchFamily="34" charset="0"/>
              </a:rPr>
              <a:t> and </a:t>
            </a:r>
            <a:r>
              <a:rPr lang="en-US" sz="3200" dirty="0" err="1">
                <a:latin typeface="Calibri" panose="020B0604020202020204" pitchFamily="34" charset="0"/>
                <a:cs typeface="Calibri" panose="020B0604020202020204" pitchFamily="34" charset="0"/>
              </a:rPr>
              <a:t>nf</a:t>
            </a:r>
            <a:r>
              <a:rPr lang="en-US" sz="3200" dirty="0">
                <a:latin typeface="Calibri" panose="020B0604020202020204" pitchFamily="34" charset="0"/>
                <a:cs typeface="Calibri" panose="020B0604020202020204" pitchFamily="34" charset="0"/>
              </a:rPr>
              <a:t>-core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62793F6-F5B5-3DDA-73E2-B25EC725E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35" y="3711850"/>
            <a:ext cx="6979920" cy="202824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Yucheng Zhang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Senior Bioinformatics Engineer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TTS Research Technology</a:t>
            </a:r>
          </a:p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yucheng.zhang@tufts.edu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642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207D-31D6-9266-B930-2AC950BF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FC9C43-33B6-9929-4E0B-E7C97A61A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50EA53-88A9-E56A-21DD-75BC54F110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6146" y="1321016"/>
            <a:ext cx="11279707" cy="4215967"/>
          </a:xfrm>
          <a:prstGeom prst="rect">
            <a:avLst/>
          </a:prstGeom>
        </p:spPr>
        <p:txBody>
          <a:bodyPr>
            <a:noAutofit/>
          </a:bodyPr>
          <a:lstStyle/>
          <a:p>
            <a:pPr lvl="1"/>
            <a:r>
              <a:rPr lang="en-US" sz="2800" dirty="0"/>
              <a:t>Architecture of Tufts HPC</a:t>
            </a:r>
          </a:p>
          <a:p>
            <a:pPr lvl="1"/>
            <a:r>
              <a:rPr lang="en-US" sz="2800" dirty="0"/>
              <a:t>Walk through Tufts Open OnDemand platform</a:t>
            </a:r>
          </a:p>
          <a:p>
            <a:pPr lvl="1"/>
            <a:r>
              <a:rPr lang="en-US" sz="2800" dirty="0"/>
              <a:t>Connect to Tufts HPC and transfer files</a:t>
            </a:r>
          </a:p>
          <a:p>
            <a:pPr lvl="1"/>
            <a:r>
              <a:rPr lang="en-US" sz="2800" dirty="0"/>
              <a:t>Submit, monitor, and cancel a simple SLURM job</a:t>
            </a:r>
          </a:p>
          <a:p>
            <a:pPr lvl="1"/>
            <a:r>
              <a:rPr lang="en-US" sz="2800" dirty="0"/>
              <a:t>Request appropriate compute resources</a:t>
            </a:r>
          </a:p>
          <a:p>
            <a:pPr lvl="1"/>
            <a:r>
              <a:rPr lang="en-US" sz="2800" dirty="0"/>
              <a:t>Introduction to </a:t>
            </a:r>
            <a:r>
              <a:rPr lang="en-US" sz="2800" dirty="0" err="1"/>
              <a:t>Nextflow</a:t>
            </a:r>
            <a:r>
              <a:rPr lang="en-US" sz="2800" dirty="0"/>
              <a:t> &amp; </a:t>
            </a:r>
            <a:r>
              <a:rPr lang="en-US" sz="2800" dirty="0" err="1"/>
              <a:t>nf</a:t>
            </a:r>
            <a:r>
              <a:rPr lang="en-US" sz="2800" dirty="0"/>
              <a:t>-core</a:t>
            </a:r>
          </a:p>
          <a:p>
            <a:pPr lvl="1"/>
            <a:r>
              <a:rPr lang="en-US" sz="2800" dirty="0"/>
              <a:t>RNA-Seq analysis with </a:t>
            </a:r>
            <a:r>
              <a:rPr lang="en-US" sz="2800" dirty="0" err="1"/>
              <a:t>nf</a:t>
            </a:r>
            <a:r>
              <a:rPr lang="en-US" sz="2800" dirty="0"/>
              <a:t>-core </a:t>
            </a:r>
            <a:r>
              <a:rPr lang="en-US" sz="2800" dirty="0" err="1"/>
              <a:t>rnaseq</a:t>
            </a:r>
            <a:r>
              <a:rPr lang="en-US" sz="2800" dirty="0"/>
              <a:t> pipeline on Tufts Open OnDemand</a:t>
            </a:r>
          </a:p>
        </p:txBody>
      </p:sp>
    </p:spTree>
    <p:extLst>
      <p:ext uri="{BB962C8B-B14F-4D97-AF65-F5344CB8AC3E}">
        <p14:creationId xmlns:p14="http://schemas.microsoft.com/office/powerpoint/2010/main" val="256585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CAF2-2343-99DA-76A3-0D2C18E4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D2998-52DD-5E60-218D-6A3A0BBC4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Why Do We Need Clusters?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785C01-ADD9-4572-2D9D-F1A02A5B95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1617" y="1282736"/>
            <a:ext cx="10974906" cy="541962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 marL="283210" indent="-283210">
              <a:lnSpc>
                <a:spcPct val="100000"/>
              </a:lnSpc>
              <a:spcAft>
                <a:spcPts val="700"/>
              </a:spcAft>
            </a:pPr>
            <a:r>
              <a:rPr lang="en-US" sz="2400" dirty="0"/>
              <a:t>A single machine has hard limits:</a:t>
            </a:r>
            <a:endParaRPr lang="en-US" dirty="0"/>
          </a:p>
          <a:p>
            <a:pPr marL="648970" lvl="1" indent="-283210">
              <a:lnSpc>
                <a:spcPct val="100000"/>
              </a:lnSpc>
              <a:spcAft>
                <a:spcPts val="700"/>
              </a:spcAft>
            </a:pPr>
            <a:r>
              <a:rPr lang="en-US" sz="2200" dirty="0">
                <a:latin typeface="Calibri"/>
                <a:cs typeface="Calibri"/>
              </a:rPr>
              <a:t>CPU cores: typically 8-32 on a workstation</a:t>
            </a:r>
          </a:p>
          <a:p>
            <a:pPr marL="648970" lvl="1" indent="-283210">
              <a:lnSpc>
                <a:spcPct val="100000"/>
              </a:lnSpc>
              <a:spcAft>
                <a:spcPts val="700"/>
              </a:spcAft>
            </a:pPr>
            <a:r>
              <a:rPr lang="en-US" sz="2200" dirty="0">
                <a:latin typeface="Calibri"/>
                <a:cs typeface="Calibri"/>
              </a:rPr>
              <a:t>RAM: typically 16-64 GB</a:t>
            </a:r>
          </a:p>
          <a:p>
            <a:pPr marL="648970" lvl="1" indent="-283210">
              <a:lnSpc>
                <a:spcPct val="100000"/>
              </a:lnSpc>
              <a:spcAft>
                <a:spcPts val="700"/>
              </a:spcAft>
            </a:pPr>
            <a:r>
              <a:rPr lang="en-US" sz="2200" dirty="0">
                <a:latin typeface="Calibri"/>
                <a:cs typeface="Calibri"/>
              </a:rPr>
              <a:t>Runtime: long jobs tie up your machine</a:t>
            </a:r>
          </a:p>
          <a:p>
            <a:pPr marL="283210" indent="-283210">
              <a:lnSpc>
                <a:spcPct val="100000"/>
              </a:lnSpc>
              <a:spcAft>
                <a:spcPts val="700"/>
              </a:spcAft>
            </a:pPr>
            <a:r>
              <a:rPr lang="en-US" sz="2400" dirty="0"/>
              <a:t>Modern bioinformatics regularly exceeds those limits:</a:t>
            </a:r>
          </a:p>
          <a:p>
            <a:pPr marL="648970" lvl="1" indent="-283210">
              <a:lnSpc>
                <a:spcPct val="100000"/>
              </a:lnSpc>
              <a:spcAft>
                <a:spcPts val="700"/>
              </a:spcAft>
            </a:pPr>
            <a:r>
              <a:rPr lang="en-US" sz="2200" dirty="0">
                <a:latin typeface="Calibri"/>
                <a:cs typeface="Calibri"/>
              </a:rPr>
              <a:t>Human genome alignment: 30-60 GB RAM, hours of CPU time</a:t>
            </a:r>
          </a:p>
          <a:p>
            <a:pPr marL="648970" lvl="1" indent="-283210">
              <a:lnSpc>
                <a:spcPct val="100000"/>
              </a:lnSpc>
              <a:spcAft>
                <a:spcPts val="700"/>
              </a:spcAft>
            </a:pPr>
            <a:r>
              <a:rPr lang="en-US" sz="2200" dirty="0">
                <a:latin typeface="Calibri"/>
                <a:cs typeface="Calibri"/>
              </a:rPr>
              <a:t>50 RNA-seq samples: 50 independent alignment runs</a:t>
            </a:r>
          </a:p>
          <a:p>
            <a:pPr marL="283210" indent="-283210">
              <a:lnSpc>
                <a:spcPct val="100000"/>
              </a:lnSpc>
              <a:spcAft>
                <a:spcPts val="700"/>
              </a:spcAft>
            </a:pPr>
            <a:r>
              <a:rPr lang="en-US" sz="2400" dirty="0">
                <a:latin typeface="Calibri"/>
                <a:cs typeface="Calibri"/>
              </a:rPr>
              <a:t>A cluster pools hundreds of machines' resources and lets many researchers share them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96110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CF9CBA-8DD5-B95E-56B4-9484A34EB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282" y="8206"/>
            <a:ext cx="10393250" cy="692883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CAF2-2343-99DA-76A3-0D2C18E4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D2998-52DD-5E60-218D-6A3A0BBC4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Key Components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785C01-ADD9-4572-2D9D-F1A02A5B95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2567" y="1120811"/>
            <a:ext cx="11222556" cy="541962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cs typeface="Calibri"/>
              </a:rPr>
              <a:t>1. Login node:</a:t>
            </a:r>
            <a:endParaRPr lang="en-US" dirty="0">
              <a:latin typeface="Calibri"/>
              <a:cs typeface="Calibri"/>
            </a:endParaRPr>
          </a:p>
          <a:p>
            <a:pPr marL="648970" lvl="1" indent="-283210"/>
            <a:r>
              <a:rPr lang="en-US" sz="2400" b="0" dirty="0">
                <a:latin typeface="Calibri"/>
                <a:cs typeface="Calibri"/>
              </a:rPr>
              <a:t>Where you SSH in. Shared by all users. Never run analysis here.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>
                <a:latin typeface="Calibri"/>
                <a:cs typeface="Calibri"/>
              </a:rPr>
              <a:t>2. </a:t>
            </a:r>
            <a:r>
              <a:rPr lang="en-US" sz="2400" b="1" dirty="0">
                <a:latin typeface="Calibri"/>
                <a:cs typeface="Calibri"/>
              </a:rPr>
              <a:t>Scheduler (</a:t>
            </a:r>
            <a:r>
              <a:rPr lang="en-US" sz="2400" b="1" dirty="0" err="1">
                <a:latin typeface="Calibri"/>
                <a:cs typeface="Calibri"/>
              </a:rPr>
              <a:t>slurm</a:t>
            </a:r>
            <a:r>
              <a:rPr lang="en-US" sz="2400" b="1" dirty="0">
                <a:latin typeface="Calibri"/>
                <a:cs typeface="Calibri"/>
              </a:rPr>
              <a:t>):</a:t>
            </a:r>
            <a:endParaRPr lang="en-US" dirty="0"/>
          </a:p>
          <a:p>
            <a:pPr marL="648970" lvl="1" indent="-283210"/>
            <a:r>
              <a:rPr lang="en-US" sz="2400" dirty="0">
                <a:latin typeface="Calibri"/>
                <a:cs typeface="Calibri"/>
              </a:rPr>
              <a:t>Accepts resource requests, queues jobs, allocates compute nodes</a:t>
            </a:r>
          </a:p>
          <a:p>
            <a:pPr marL="0" indent="0">
              <a:buNone/>
            </a:pPr>
            <a:r>
              <a:rPr lang="en-US" sz="2400" dirty="0">
                <a:latin typeface="Calibri"/>
                <a:cs typeface="Calibri"/>
              </a:rPr>
              <a:t>3. Compute nodes:</a:t>
            </a:r>
            <a:endParaRPr lang="en-US" dirty="0"/>
          </a:p>
          <a:p>
            <a:pPr marL="648970" lvl="1" indent="-283210"/>
            <a:r>
              <a:rPr lang="en-US" sz="2400" dirty="0">
                <a:latin typeface="Calibri"/>
                <a:cs typeface="Calibri"/>
              </a:rPr>
              <a:t>Many CPUs, lots of RAM. Allocated exclusively while your job runs.</a:t>
            </a:r>
          </a:p>
          <a:p>
            <a:pPr marL="0" indent="0">
              <a:buNone/>
            </a:pPr>
            <a:r>
              <a:rPr lang="en-US" sz="2400" dirty="0">
                <a:latin typeface="Calibri"/>
                <a:cs typeface="Calibri"/>
              </a:rPr>
              <a:t>4. Shared storage:</a:t>
            </a:r>
          </a:p>
          <a:p>
            <a:pPr marL="648970" lvl="1" indent="-283210"/>
            <a:r>
              <a:rPr lang="en-US" sz="2400" dirty="0">
                <a:latin typeface="Calibri"/>
                <a:cs typeface="Calibri"/>
              </a:rPr>
              <a:t>Same filesystem visible from all nodes. Copy data once, use from anywhere.</a:t>
            </a:r>
          </a:p>
          <a:p>
            <a:r>
              <a:rPr lang="en-US" sz="2400" dirty="0"/>
              <a:t>These four components appear on every HPC system.</a:t>
            </a:r>
          </a:p>
        </p:txBody>
      </p:sp>
    </p:spTree>
    <p:extLst>
      <p:ext uri="{BB962C8B-B14F-4D97-AF65-F5344CB8AC3E}">
        <p14:creationId xmlns:p14="http://schemas.microsoft.com/office/powerpoint/2010/main" val="196110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3B64-F27F-0F5E-91F5-F31FAC45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797A07-D25D-D71F-3A36-416FA3171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Connecting to Tufts HPC</a:t>
            </a:r>
          </a:p>
        </p:txBody>
      </p:sp>
      <p:graphicFrame>
        <p:nvGraphicFramePr>
          <p:cNvPr id="10" name="Connection To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231655"/>
              </p:ext>
            </p:extLst>
          </p:nvPr>
        </p:nvGraphicFramePr>
        <p:xfrm>
          <a:off x="629389" y="1500554"/>
          <a:ext cx="10854872" cy="3148818"/>
        </p:xfrm>
        <a:graphic>
          <a:graphicData uri="http://schemas.openxmlformats.org/drawingml/2006/table">
            <a:tbl>
              <a:tblPr firstRow="1" bandRow="1"/>
              <a:tblGrid>
                <a:gridCol w="1537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4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06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3172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3172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When to use it</a:t>
                      </a:r>
                    </a:p>
                  </a:txBody>
                  <a:tcPr>
                    <a:solidFill>
                      <a:srgbClr val="3172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778">
                <a:tc>
                  <a:txBody>
                    <a:bodyPr/>
                    <a:lstStyle/>
                    <a:p>
                      <a:r>
                        <a:rPr lang="en-US" sz="2000" b="1" dirty="0"/>
                        <a:t>SSH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Encrypted terminal connection to the cluster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Login cluster, edit files and submit jobs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B w="12700">
                      <a:solidFill>
                        <a:srgbClr val="CCCCC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7619">
                <a:tc>
                  <a:txBody>
                    <a:bodyPr/>
                    <a:lstStyle/>
                    <a:p>
                      <a:r>
                        <a:rPr lang="en-US" sz="2000" b="1" dirty="0"/>
                        <a:t>rsync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copy and synchronize files/folders between locations. 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Transfer or sync many files, large files, or interrupted transfers between cluster and your computer.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491">
                <a:tc>
                  <a:txBody>
                    <a:bodyPr/>
                    <a:lstStyle/>
                    <a:p>
                      <a:r>
                        <a:rPr lang="en-US" sz="2000" b="1" dirty="0"/>
                        <a:t>sftp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Interactive file transfer over SSH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Transfer files interactively between your computer and cluster.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95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918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CAF2-2343-99DA-76A3-0D2C18E4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D2998-52DD-5E60-218D-6A3A0BBC4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Two Ways to Access Tufts HPC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785C01-ADD9-4572-2D9D-F1A02A5B95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1617" y="1282736"/>
            <a:ext cx="8231706" cy="48862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r>
              <a:rPr lang="en-US" dirty="0"/>
              <a:t>OnDemand Web Portal:</a:t>
            </a:r>
          </a:p>
          <a:p>
            <a:pPr lvl="1"/>
            <a:r>
              <a:rPr lang="en-US" dirty="0"/>
              <a:t>Browser-based — good for Jupyter, RStudio, exploring</a:t>
            </a:r>
          </a:p>
          <a:p>
            <a:pPr marL="648970" lvl="1" indent="-283210"/>
            <a:r>
              <a:rPr lang="en-US" dirty="0">
                <a:latin typeface="Calibri"/>
                <a:cs typeface="Calibri"/>
              </a:rPr>
              <a:t>URL: ondemand-prod.pax.tufts.edu</a:t>
            </a:r>
          </a:p>
          <a:p>
            <a:r>
              <a:rPr lang="en-US" dirty="0"/>
              <a:t>SSH Terminal:</a:t>
            </a:r>
          </a:p>
          <a:p>
            <a:pPr lvl="1"/>
            <a:r>
              <a:rPr lang="en-US" dirty="0"/>
              <a:t>Direct command-line access from your laptop</a:t>
            </a:r>
          </a:p>
          <a:p>
            <a:pPr lvl="1"/>
            <a:r>
              <a:rPr lang="en-US" dirty="0"/>
              <a:t>Required for SLURM job submission and scripting</a:t>
            </a:r>
          </a:p>
          <a:p>
            <a:pPr marL="648970" lvl="1" indent="-283210"/>
            <a:r>
              <a:rPr lang="en-US" dirty="0">
                <a:latin typeface="Calibri"/>
                <a:cs typeface="Calibri"/>
              </a:rPr>
              <a:t>ssh your_utln@login-prod.pax.tufts.edu</a:t>
            </a:r>
          </a:p>
          <a:p>
            <a:r>
              <a:rPr lang="en-US" dirty="0"/>
              <a:t>Off campus: connect to Tufts VPN first.</a:t>
            </a:r>
          </a:p>
        </p:txBody>
      </p:sp>
    </p:spTree>
    <p:extLst>
      <p:ext uri="{BB962C8B-B14F-4D97-AF65-F5344CB8AC3E}">
        <p14:creationId xmlns:p14="http://schemas.microsoft.com/office/powerpoint/2010/main" val="196110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CAF2-2343-99DA-76A3-0D2C18E4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D2998-52DD-5E60-218D-6A3A0BBC4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What is SSH?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785C01-ADD9-4572-2D9D-F1A02A5B95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1617" y="1301786"/>
            <a:ext cx="9555681" cy="54196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r>
              <a:rPr lang="en-US" dirty="0"/>
              <a:t>SSH = Secure Shell</a:t>
            </a:r>
          </a:p>
          <a:p>
            <a:pPr lvl="1"/>
            <a:r>
              <a:rPr lang="en-US" dirty="0"/>
              <a:t>Encrypted terminal connection to a remote computer</a:t>
            </a:r>
          </a:p>
          <a:p>
            <a:pPr lvl="1"/>
            <a:r>
              <a:rPr lang="en-US" dirty="0"/>
              <a:t>Already installed on Mac and Linux</a:t>
            </a:r>
          </a:p>
          <a:p>
            <a:pPr marL="648970" lvl="1" indent="-283210"/>
            <a:r>
              <a:rPr lang="en-US" dirty="0">
                <a:latin typeface="Calibri"/>
                <a:cs typeface="Calibri"/>
              </a:rPr>
              <a:t>Windows: Git Bash, WSL, or PowerShell</a:t>
            </a:r>
          </a:p>
          <a:p>
            <a:pPr marL="283210" indent="-283210"/>
            <a:r>
              <a:rPr lang="en-US" dirty="0">
                <a:latin typeface="Calibri"/>
                <a:cs typeface="Calibri"/>
              </a:rPr>
              <a:t>Tufts HPC login address:  login-</a:t>
            </a:r>
            <a:r>
              <a:rPr lang="en-US" dirty="0" err="1">
                <a:latin typeface="Calibri"/>
                <a:cs typeface="Calibri"/>
              </a:rPr>
              <a:t>prod.pax.tufts.edu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110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Connecting via SSH</a:t>
            </a: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629389" y="1264461"/>
            <a:ext cx="9176347" cy="3706123"/>
          </a:xfrm>
          <a:prstGeom prst="rect">
            <a:avLst/>
          </a:prstGeom>
          <a:solidFill>
            <a:srgbClr val="1E2E3D">
              <a:alpha val="10000"/>
            </a:srgbClr>
          </a:solidFill>
        </p:spPr>
        <p:txBody>
          <a:bodyPr wrap="square" lIns="114300" tIns="114300" rIns="114300" bIns="114300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Consolas"/>
              </a:rPr>
              <a:t># From your laptop terminal: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$ ssh your_utln@login-prod.pax.tufts.edu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First time: confirm the host fingerprint — type 'yes'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Enter your Tufts password + 2FA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Your prompt changes to: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[your_utln@login-prod-01 ~]$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'login-prod' in the prompt = you are on the LOGIN NODE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Check your location: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$ pwd      # /cluster/home/your_utln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CAF2-2343-99DA-76A3-0D2C18E4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D2998-52DD-5E60-218D-6A3A0BBC4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Login Node Rule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785C01-ADD9-4572-2D9D-F1A02A5B95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3908" y="1227317"/>
            <a:ext cx="11032456" cy="541962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r>
              <a:rPr lang="en-US" sz="2800" dirty="0"/>
              <a:t>You land on the LOGIN NODE when you SSH in.</a:t>
            </a:r>
          </a:p>
          <a:p>
            <a:pPr marL="283210" indent="-283210"/>
            <a:r>
              <a:rPr lang="en-US" sz="2800" dirty="0">
                <a:latin typeface="Calibri"/>
                <a:cs typeface="Calibri"/>
              </a:rPr>
              <a:t>Login nodes are SHARED by everyone connected.</a:t>
            </a:r>
          </a:p>
          <a:p>
            <a:r>
              <a:rPr lang="en-US" sz="2800" dirty="0"/>
              <a:t>OK on login nodes:</a:t>
            </a:r>
          </a:p>
          <a:p>
            <a:pPr lvl="1"/>
            <a:r>
              <a:rPr lang="en-US" sz="2800" dirty="0"/>
              <a:t>Edit files, submit jobs, check job status, light commands</a:t>
            </a:r>
          </a:p>
          <a:p>
            <a:pPr marL="283210" indent="-283210"/>
            <a:r>
              <a:rPr lang="en-US" sz="2800" dirty="0">
                <a:solidFill>
                  <a:srgbClr val="FF0000"/>
                </a:solidFill>
              </a:rPr>
              <a:t>Never run jobs or heavy commands on login nodes</a:t>
            </a:r>
          </a:p>
          <a:p>
            <a:pPr marL="365760" lvl="1" indent="0">
              <a:buNone/>
            </a:pPr>
            <a:r>
              <a:rPr lang="en-US" sz="2800" dirty="0"/>
              <a:t>If you violate this, you do not just slow yourself down. You slow down everyone else on that login node. Admins will kill your job and warn you.</a:t>
            </a:r>
          </a:p>
          <a:p>
            <a:pPr marL="0" indent="0">
              <a:buNone/>
            </a:pPr>
            <a:r>
              <a:rPr lang="en-US" sz="2800" dirty="0"/>
              <a:t>All real computation → SLURM → compute nodes.</a:t>
            </a:r>
          </a:p>
        </p:txBody>
      </p:sp>
    </p:spTree>
    <p:extLst>
      <p:ext uri="{BB962C8B-B14F-4D97-AF65-F5344CB8AC3E}">
        <p14:creationId xmlns:p14="http://schemas.microsoft.com/office/powerpoint/2010/main" val="19611086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CAF2-2343-99DA-76A3-0D2C18E4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D2998-52DD-5E60-218D-6A3A0BBC4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Transferring Projects: rsync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785C01-ADD9-4572-2D9D-F1A02A5B95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1617" y="1282736"/>
            <a:ext cx="10353583" cy="54196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3210" indent="-283210"/>
            <a:r>
              <a:rPr lang="en-US" dirty="0">
                <a:latin typeface="Calibri"/>
                <a:cs typeface="Calibri"/>
              </a:rPr>
              <a:t>For whole project directories, use </a:t>
            </a:r>
            <a:r>
              <a:rPr lang="en-US" dirty="0" err="1">
                <a:latin typeface="Calibri"/>
                <a:cs typeface="Calibri"/>
              </a:rPr>
              <a:t>rsync</a:t>
            </a:r>
            <a:r>
              <a:rPr lang="en-US" dirty="0">
                <a:latin typeface="Calibri"/>
                <a:cs typeface="Calibri"/>
              </a:rPr>
              <a:t>.</a:t>
            </a:r>
          </a:p>
          <a:p>
            <a:r>
              <a:rPr lang="en-US" dirty="0"/>
              <a:t>Why rsync over SFTP?</a:t>
            </a:r>
          </a:p>
          <a:p>
            <a:pPr lvl="1"/>
            <a:r>
              <a:rPr lang="en-US" dirty="0"/>
              <a:t>Transfers entire directory trees</a:t>
            </a:r>
          </a:p>
          <a:p>
            <a:pPr lvl="1"/>
            <a:r>
              <a:rPr lang="en-US" dirty="0"/>
              <a:t>Shows progress and can RESUME interrupted transfers</a:t>
            </a:r>
          </a:p>
          <a:p>
            <a:pPr marL="648970" lvl="1" indent="-283210"/>
            <a:r>
              <a:rPr lang="en-US" dirty="0">
                <a:latin typeface="Calibri"/>
                <a:cs typeface="Calibri"/>
              </a:rPr>
              <a:t>Smart: only copies files that have changed</a:t>
            </a:r>
          </a:p>
          <a:p>
            <a:pPr marL="283210" indent="-283210"/>
            <a:r>
              <a:rPr lang="en-US" dirty="0">
                <a:latin typeface="Calibri"/>
                <a:cs typeface="Calibri"/>
              </a:rPr>
              <a:t>Run </a:t>
            </a:r>
            <a:r>
              <a:rPr lang="en-US" dirty="0" err="1">
                <a:latin typeface="Calibri"/>
                <a:cs typeface="Calibri"/>
              </a:rPr>
              <a:t>rsync</a:t>
            </a:r>
            <a:r>
              <a:rPr lang="en-US" dirty="0">
                <a:latin typeface="Calibri"/>
                <a:cs typeface="Calibri"/>
              </a:rPr>
              <a:t> from your LAPTOP, not from inside SSH.</a:t>
            </a:r>
          </a:p>
          <a:p>
            <a:r>
              <a:rPr lang="en-US" dirty="0"/>
              <a:t>rsync works over SSH — same security, better for bulk transfers.</a:t>
            </a:r>
          </a:p>
        </p:txBody>
      </p:sp>
    </p:spTree>
    <p:extLst>
      <p:ext uri="{BB962C8B-B14F-4D97-AF65-F5344CB8AC3E}">
        <p14:creationId xmlns:p14="http://schemas.microsoft.com/office/powerpoint/2010/main" val="19611086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rsync: Upload and Download</a:t>
            </a: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629389" y="1030000"/>
            <a:ext cx="9176347" cy="4700000"/>
          </a:xfrm>
          <a:prstGeom prst="rect">
            <a:avLst/>
          </a:prstGeom>
          <a:solidFill>
            <a:srgbClr val="1E2E3D">
              <a:alpha val="10000"/>
            </a:srgbClr>
          </a:solidFill>
        </p:spPr>
        <p:txBody>
          <a:bodyPr wrap="square" lIns="114300" tIns="114300" rIns="114300" bIns="114300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Consolas"/>
              </a:rPr>
              <a:t># Upload a project to the cluster (run from your laptop):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$ rsync -avzP ~/bio196/project/ \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    your_utln@login-prod.pax.tufts.edu:/cluster/home/your_utln/project/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Download results from cluster to laptop: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$ rsync -avzP \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    your_utln@login-prod.pax.tufts.edu:/cluster/home/your_utln/project/results/ \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    ~/bio196/project/results/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Flags:  -a archive  -v verbose  -z compress  -P progress+resume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TRAILING SLASH matters: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  project/   -&gt;  copies CONTENTS</a:t>
            </a:r>
          </a:p>
          <a:p>
            <a:pPr marL="0" indent="0">
              <a:buNone/>
            </a:pPr>
            <a:r>
              <a:rPr lang="en-US" sz="1700" dirty="0">
                <a:latin typeface="Consolas"/>
              </a:rPr>
              <a:t>#   project    -&gt;  copies the folder itself (creates nested dir)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CD87-EF22-129C-C890-5D9A330E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FCE424-B198-F4E8-5AF1-7856B6817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What is a Job?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43A719-1F08-8B39-75B7-435F2CA977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1617" y="1282736"/>
            <a:ext cx="8231706" cy="488101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job contains two things:</a:t>
            </a:r>
          </a:p>
          <a:p>
            <a:r>
              <a:rPr lang="en-US" dirty="0"/>
              <a:t>Resource request</a:t>
            </a:r>
          </a:p>
          <a:p>
            <a:pPr lvl="1"/>
            <a:r>
              <a:rPr lang="en-US" dirty="0"/>
              <a:t>partition</a:t>
            </a:r>
          </a:p>
          <a:p>
            <a:pPr lvl="1"/>
            <a:r>
              <a:rPr lang="en-US" dirty="0"/>
              <a:t>CPUs</a:t>
            </a:r>
          </a:p>
          <a:p>
            <a:pPr lvl="1"/>
            <a:r>
              <a:rPr lang="en-US" dirty="0"/>
              <a:t>GPUs (optional)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runtime</a:t>
            </a:r>
          </a:p>
          <a:p>
            <a:r>
              <a:rPr lang="en-US" dirty="0"/>
              <a:t>Commands to execute</a:t>
            </a:r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43870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71B6-3A03-8081-D783-DE1AA40B5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F72632-3A71-82F4-2EBA-5C922A4B3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Interactive Job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B7425-BBCF-8284-4CD8-B9D8F0B1DE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1616" y="1188930"/>
            <a:ext cx="10248075" cy="380379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0" dirty="0"/>
              <a:t>Login nodes have limited CPU and memory resources and should not be used to run jobs. </a:t>
            </a:r>
          </a:p>
          <a:p>
            <a:pPr marL="0" indent="0">
              <a:buNone/>
            </a:pPr>
            <a:r>
              <a:rPr lang="en-US" b="0" dirty="0"/>
              <a:t>Please request the appropriate resources and run your jobs on compute nodes using an interactive or batch job.</a:t>
            </a:r>
          </a:p>
          <a:p>
            <a:pPr marL="0" indent="0">
              <a:buNone/>
            </a:pPr>
            <a:r>
              <a:rPr lang="en-US" b="0" dirty="0"/>
              <a:t>To start an interactive job:</a:t>
            </a:r>
          </a:p>
          <a:p>
            <a:pPr marL="0" indent="0">
              <a:buNone/>
            </a:pPr>
            <a:r>
              <a:rPr lang="en-US" b="0" dirty="0">
                <a:highlight>
                  <a:srgbClr val="C0C0C0"/>
                </a:highlight>
              </a:rPr>
              <a:t>$ </a:t>
            </a:r>
            <a:r>
              <a:rPr lang="en-US" b="0" dirty="0" err="1">
                <a:highlight>
                  <a:srgbClr val="C0C0C0"/>
                </a:highlight>
              </a:rPr>
              <a:t>srun</a:t>
            </a:r>
            <a:r>
              <a:rPr lang="en-US" b="0" dirty="0">
                <a:highlight>
                  <a:srgbClr val="C0C0C0"/>
                </a:highlight>
              </a:rPr>
              <a:t> -p batch -t 2:00:00 -N 1 -n 1 -c 2  --mem=8G --</a:t>
            </a:r>
            <a:r>
              <a:rPr lang="en-US" b="0" dirty="0" err="1">
                <a:highlight>
                  <a:srgbClr val="C0C0C0"/>
                </a:highlight>
              </a:rPr>
              <a:t>pty</a:t>
            </a:r>
            <a:r>
              <a:rPr lang="en-US" b="0" dirty="0">
                <a:highlight>
                  <a:srgbClr val="C0C0C0"/>
                </a:highlight>
              </a:rPr>
              <a:t> bash</a:t>
            </a:r>
          </a:p>
          <a:p>
            <a:pPr marL="0" indent="0">
              <a:buNone/>
            </a:pPr>
            <a:r>
              <a:rPr lang="en-US" b="0" dirty="0"/>
              <a:t>More details can be found here: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B2C882-657C-545C-ED14-18DF4C10D3C8}"/>
              </a:ext>
            </a:extLst>
          </p:cNvPr>
          <p:cNvSpPr txBox="1"/>
          <p:nvPr/>
        </p:nvSpPr>
        <p:spPr>
          <a:xfrm>
            <a:off x="771616" y="5205932"/>
            <a:ext cx="9638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B0604020202020204" pitchFamily="34" charset="0"/>
                <a:cs typeface="Calibri" panose="020B0604020202020204" pitchFamily="34" charset="0"/>
                <a:hlinkClick r:id="rId3"/>
              </a:rPr>
              <a:t>https://</a:t>
            </a:r>
            <a:r>
              <a:rPr lang="en-US" sz="2400" dirty="0" err="1">
                <a:latin typeface="Calibri" panose="020B0604020202020204" pitchFamily="34" charset="0"/>
                <a:cs typeface="Calibri" panose="020B0604020202020204" pitchFamily="34" charset="0"/>
                <a:hlinkClick r:id="rId3"/>
              </a:rPr>
              <a:t>rtguides.it.tufts.edu</a:t>
            </a:r>
            <a:r>
              <a:rPr lang="en-US" sz="2400" dirty="0">
                <a:latin typeface="Calibri" panose="020B0604020202020204" pitchFamily="34" charset="0"/>
                <a:cs typeface="Calibri" panose="020B0604020202020204" pitchFamily="34" charset="0"/>
                <a:hlinkClick r:id="rId3"/>
              </a:rPr>
              <a:t>/</a:t>
            </a:r>
            <a:r>
              <a:rPr lang="en-US" sz="2400" dirty="0" err="1">
                <a:latin typeface="Calibri" panose="020B0604020202020204" pitchFamily="34" charset="0"/>
                <a:cs typeface="Calibri" panose="020B0604020202020204" pitchFamily="34" charset="0"/>
                <a:hlinkClick r:id="rId3"/>
              </a:rPr>
              <a:t>hpc</a:t>
            </a:r>
            <a:r>
              <a:rPr lang="en-US" sz="2400" dirty="0">
                <a:latin typeface="Calibri" panose="020B0604020202020204" pitchFamily="34" charset="0"/>
                <a:cs typeface="Calibri" panose="020B0604020202020204" pitchFamily="34" charset="0"/>
                <a:hlinkClick r:id="rId3"/>
              </a:rPr>
              <a:t>/</a:t>
            </a:r>
            <a:r>
              <a:rPr lang="en-US" sz="2400" dirty="0" err="1">
                <a:latin typeface="Calibri" panose="020B0604020202020204" pitchFamily="34" charset="0"/>
                <a:cs typeface="Calibri" panose="020B0604020202020204" pitchFamily="34" charset="0"/>
                <a:hlinkClick r:id="rId3"/>
              </a:rPr>
              <a:t>slurm</a:t>
            </a:r>
            <a:r>
              <a:rPr lang="en-US" sz="2400" dirty="0">
                <a:latin typeface="Calibri" panose="020B0604020202020204" pitchFamily="34" charset="0"/>
                <a:cs typeface="Calibri" panose="020B0604020202020204" pitchFamily="34" charset="0"/>
                <a:hlinkClick r:id="rId3"/>
              </a:rPr>
              <a:t>/</a:t>
            </a:r>
            <a:r>
              <a:rPr lang="en-US" sz="2400" dirty="0" err="1">
                <a:latin typeface="Calibri" panose="020B0604020202020204" pitchFamily="34" charset="0"/>
                <a:cs typeface="Calibri" panose="020B0604020202020204" pitchFamily="34" charset="0"/>
                <a:hlinkClick r:id="rId3"/>
              </a:rPr>
              <a:t>interactive.html</a:t>
            </a:r>
            <a:endParaRPr lang="en-US" sz="2400" dirty="0">
              <a:latin typeface="Calibri" panose="020B0604020202020204" pitchFamily="34" charset="0"/>
              <a:cs typeface="Calibri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531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CAF2-2343-99DA-76A3-0D2C18E4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D2998-52DD-5E60-218D-6A3A0BBC4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Key SLURM Commands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7507AE-3F9D-4F71-06E4-4CF4EA5A5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215777"/>
              </p:ext>
            </p:extLst>
          </p:nvPr>
        </p:nvGraphicFramePr>
        <p:xfrm>
          <a:off x="862222" y="1458545"/>
          <a:ext cx="10090214" cy="3383822"/>
        </p:xfrm>
        <a:graphic>
          <a:graphicData uri="http://schemas.openxmlformats.org/drawingml/2006/table">
            <a:tbl>
              <a:tblPr firstRow="1" bandRow="1"/>
              <a:tblGrid>
                <a:gridCol w="4316500">
                  <a:extLst>
                    <a:ext uri="{9D8B030D-6E8A-4147-A177-3AD203B41FA5}">
                      <a16:colId xmlns:a16="http://schemas.microsoft.com/office/drawing/2014/main" val="4263276255"/>
                    </a:ext>
                  </a:extLst>
                </a:gridCol>
                <a:gridCol w="5773714">
                  <a:extLst>
                    <a:ext uri="{9D8B030D-6E8A-4147-A177-3AD203B41FA5}">
                      <a16:colId xmlns:a16="http://schemas.microsoft.com/office/drawing/2014/main" val="611013430"/>
                    </a:ext>
                  </a:extLst>
                </a:gridCol>
              </a:tblGrid>
              <a:tr h="61993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noProof="0" dirty="0" err="1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sbatch</a:t>
                      </a: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script.sh</a:t>
                      </a:r>
                      <a:endParaRPr lang="en-US" sz="2000" b="1" i="0" u="none" strike="noStrike" noProof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Submit a batch job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888025"/>
                  </a:ext>
                </a:extLst>
              </a:tr>
              <a:tr h="5596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 err="1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squeue</a:t>
                      </a: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-u $USER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Show your queued and running jobs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602188"/>
                  </a:ext>
                </a:extLst>
              </a:tr>
              <a:tr h="4068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 err="1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scancel</a:t>
                      </a: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JOBID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Cancel a job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181904"/>
                  </a:ext>
                </a:extLst>
              </a:tr>
              <a:tr h="5596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 err="1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sacct</a:t>
                      </a: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-j JOBID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Check what happened to a completed job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714149"/>
                  </a:ext>
                </a:extLst>
              </a:tr>
              <a:tr h="6780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 err="1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srun</a:t>
                      </a: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-p batch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Interactive compute session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097982"/>
                  </a:ext>
                </a:extLst>
              </a:tr>
              <a:tr h="5596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 err="1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sinfo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Show available partitions and node status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266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108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55316-E9C4-23A5-5CC7-BF905565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D4D8A-CA74-FBAE-B331-CF8225B74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Life cycle of a </a:t>
            </a:r>
            <a:r>
              <a:rPr lang="en-US" dirty="0" err="1"/>
              <a:t>slurm</a:t>
            </a:r>
            <a:r>
              <a:rPr lang="en-US" dirty="0"/>
              <a:t> job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15765-BBD0-FBC1-63CF-96F3404EC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13" y="1128817"/>
            <a:ext cx="8610023" cy="460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22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176347" cy="618631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Slurm</a:t>
            </a:r>
            <a:r>
              <a:rPr lang="en-US" dirty="0"/>
              <a:t> job script</a:t>
            </a: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629389" y="1112062"/>
            <a:ext cx="11363318" cy="4468123"/>
          </a:xfrm>
          <a:prstGeom prst="rect">
            <a:avLst/>
          </a:prstGeom>
          <a:solidFill>
            <a:srgbClr val="1E2E3D">
              <a:alpha val="10000"/>
            </a:srgbClr>
          </a:solidFill>
        </p:spPr>
        <p:txBody>
          <a:bodyPr wrap="square" lIns="114300" tIns="114300" rIns="114300" bIns="114300">
            <a:normAutofit/>
          </a:bodyPr>
          <a:lstStyle/>
          <a:p>
            <a:r>
              <a:rPr lang="en-US" sz="1700" dirty="0">
                <a:latin typeface="Consolas"/>
              </a:rPr>
              <a:t>#!/bin/bash</a:t>
            </a:r>
          </a:p>
          <a:p>
            <a:r>
              <a:rPr lang="en-US" sz="1700" dirty="0">
                <a:latin typeface="Consolas"/>
              </a:rPr>
              <a:t>#SBATCH -p batch # Partition to submit to, </a:t>
            </a:r>
            <a:r>
              <a:rPr lang="en-US" sz="1700" i="1" dirty="0">
                <a:latin typeface="Consolas"/>
              </a:rPr>
              <a:t>batch</a:t>
            </a:r>
            <a:r>
              <a:rPr lang="en-US" sz="1700" dirty="0">
                <a:latin typeface="Consolas"/>
              </a:rPr>
              <a:t> is the standard CPU partition</a:t>
            </a:r>
          </a:p>
          <a:p>
            <a:r>
              <a:rPr lang="en-US" sz="1700" dirty="0">
                <a:latin typeface="Consolas"/>
              </a:rPr>
              <a:t>#SBATCH -N 1 # Number of nodes requested (1 node)</a:t>
            </a:r>
          </a:p>
          <a:p>
            <a:r>
              <a:rPr lang="en-US" sz="1700" dirty="0">
                <a:latin typeface="Consolas"/>
              </a:rPr>
              <a:t>#SBATCH -n 1 # Number of tasks (processes)</a:t>
            </a:r>
          </a:p>
          <a:p>
            <a:r>
              <a:rPr lang="en-US" sz="1700" dirty="0">
                <a:latin typeface="Consolas"/>
              </a:rPr>
              <a:t>#SBATCH -c 8 # Number of CPU cores per task (8 cores total here)</a:t>
            </a:r>
          </a:p>
          <a:p>
            <a:r>
              <a:rPr lang="en-US" sz="1700" dirty="0">
                <a:latin typeface="Consolas"/>
              </a:rPr>
              <a:t>#SBATCH --mem 24G # Total memory allocated for the job (24 GB RAM)</a:t>
            </a:r>
          </a:p>
          <a:p>
            <a:r>
              <a:rPr lang="en-US" sz="1700" dirty="0">
                <a:latin typeface="Consolas"/>
              </a:rPr>
              <a:t>#SBATCH -t 24:00:00 # Wall-clock time limit (HH:MM:SS): job killed after 24 hours</a:t>
            </a:r>
          </a:p>
          <a:p>
            <a:r>
              <a:rPr lang="en-US" sz="1700" dirty="0">
                <a:latin typeface="Consolas"/>
              </a:rPr>
              <a:t>#SBATCH -J </a:t>
            </a:r>
            <a:r>
              <a:rPr lang="en-US" sz="1700" dirty="0" err="1">
                <a:latin typeface="Consolas"/>
              </a:rPr>
              <a:t>my_job_name</a:t>
            </a:r>
            <a:r>
              <a:rPr lang="en-US" sz="1700" dirty="0">
                <a:latin typeface="Consolas"/>
              </a:rPr>
              <a:t> # Job name (shows in queue; used as %x in log filenames)</a:t>
            </a:r>
          </a:p>
          <a:p>
            <a:r>
              <a:rPr lang="en-US" sz="1700" dirty="0">
                <a:latin typeface="Consolas"/>
              </a:rPr>
              <a:t>#SBATCH --error=%x-%</a:t>
            </a:r>
            <a:r>
              <a:rPr lang="en-US" sz="1700" dirty="0" err="1">
                <a:latin typeface="Consolas"/>
              </a:rPr>
              <a:t>J.err</a:t>
            </a:r>
            <a:r>
              <a:rPr lang="en-US" sz="1700" dirty="0">
                <a:latin typeface="Consolas"/>
              </a:rPr>
              <a:t> # stderr log file: %x=job name, %J=job ID</a:t>
            </a:r>
          </a:p>
          <a:p>
            <a:r>
              <a:rPr lang="en-US" sz="1700" dirty="0">
                <a:latin typeface="Consolas"/>
              </a:rPr>
              <a:t>#SBATCH --output=%x-%</a:t>
            </a:r>
            <a:r>
              <a:rPr lang="en-US" sz="1700" dirty="0" err="1">
                <a:latin typeface="Consolas"/>
              </a:rPr>
              <a:t>J.out</a:t>
            </a:r>
            <a:r>
              <a:rPr lang="en-US" sz="1700" dirty="0">
                <a:latin typeface="Consolas"/>
              </a:rPr>
              <a:t> # </a:t>
            </a:r>
            <a:r>
              <a:rPr lang="en-US" sz="1700" dirty="0" err="1">
                <a:latin typeface="Consolas"/>
              </a:rPr>
              <a:t>stdout</a:t>
            </a:r>
            <a:r>
              <a:rPr lang="en-US" sz="1700" dirty="0">
                <a:latin typeface="Consolas"/>
              </a:rPr>
              <a:t> log file — %x=job name, %J=job ID</a:t>
            </a:r>
          </a:p>
          <a:p>
            <a:endParaRPr lang="en-US" sz="1700" dirty="0">
              <a:latin typeface="Consolas"/>
            </a:endParaRPr>
          </a:p>
          <a:p>
            <a:r>
              <a:rPr lang="en-US" sz="1700" dirty="0">
                <a:latin typeface="Consolas"/>
              </a:rPr>
              <a:t>module load </a:t>
            </a:r>
            <a:r>
              <a:rPr lang="en-US" sz="1700" dirty="0" err="1">
                <a:latin typeface="Consolas"/>
              </a:rPr>
              <a:t>nextflow</a:t>
            </a:r>
            <a:endParaRPr lang="en-US" sz="1700" dirty="0">
              <a:latin typeface="Consolas"/>
            </a:endParaRPr>
          </a:p>
          <a:p>
            <a:r>
              <a:rPr lang="en-US" sz="1700" dirty="0" err="1">
                <a:latin typeface="Consolas"/>
              </a:rPr>
              <a:t>nextflow</a:t>
            </a:r>
            <a:r>
              <a:rPr lang="en-US" sz="1700" dirty="0">
                <a:latin typeface="Consolas"/>
              </a:rPr>
              <a:t> run </a:t>
            </a:r>
            <a:r>
              <a:rPr lang="en-US" sz="1700" dirty="0" err="1">
                <a:latin typeface="Consolas"/>
              </a:rPr>
              <a:t>nf</a:t>
            </a:r>
            <a:r>
              <a:rPr lang="en-US" sz="1700" dirty="0">
                <a:latin typeface="Consolas"/>
              </a:rPr>
              <a:t>-core/</a:t>
            </a:r>
            <a:r>
              <a:rPr lang="en-US" sz="1700" dirty="0" err="1">
                <a:latin typeface="Consolas"/>
              </a:rPr>
              <a:t>rnaseq</a:t>
            </a:r>
            <a:r>
              <a:rPr lang="en-US" sz="1700" dirty="0">
                <a:latin typeface="Consolas"/>
              </a:rPr>
              <a:t> -r 3.26.0 -profile tufts \</a:t>
            </a:r>
          </a:p>
          <a:p>
            <a:r>
              <a:rPr lang="en-US" sz="1700" dirty="0">
                <a:latin typeface="Consolas"/>
              </a:rPr>
              <a:t>    --input </a:t>
            </a:r>
            <a:r>
              <a:rPr lang="en-US" sz="1700" dirty="0" err="1">
                <a:latin typeface="Consolas"/>
              </a:rPr>
              <a:t>samplesheet.csv</a:t>
            </a:r>
            <a:r>
              <a:rPr lang="en-US" sz="1700" dirty="0">
                <a:latin typeface="Consolas"/>
              </a:rPr>
              <a:t>                \</a:t>
            </a:r>
          </a:p>
          <a:p>
            <a:r>
              <a:rPr lang="en-US" sz="1700" dirty="0">
                <a:latin typeface="Consolas"/>
              </a:rPr>
              <a:t>    --</a:t>
            </a:r>
            <a:r>
              <a:rPr lang="en-US" sz="1700" dirty="0" err="1">
                <a:latin typeface="Consolas"/>
              </a:rPr>
              <a:t>outdir</a:t>
            </a:r>
            <a:r>
              <a:rPr lang="en-US" sz="1700" dirty="0">
                <a:latin typeface="Consolas"/>
              </a:rPr>
              <a:t> </a:t>
            </a:r>
            <a:r>
              <a:rPr lang="en-US" sz="1700" dirty="0" err="1">
                <a:latin typeface="Consolas"/>
              </a:rPr>
              <a:t>results_rnaseq_test</a:t>
            </a:r>
            <a:r>
              <a:rPr lang="en-US" sz="1700" dirty="0">
                <a:latin typeface="Consolas"/>
              </a:rPr>
              <a:t>           \</a:t>
            </a:r>
          </a:p>
          <a:p>
            <a:r>
              <a:rPr lang="en-US" sz="1700" dirty="0">
                <a:latin typeface="Consolas"/>
              </a:rPr>
              <a:t>    --aligner </a:t>
            </a:r>
            <a:r>
              <a:rPr lang="en-US" sz="1700" dirty="0" err="1">
                <a:latin typeface="Consolas"/>
              </a:rPr>
              <a:t>star_salmon</a:t>
            </a:r>
            <a:r>
              <a:rPr lang="en-US" sz="1700" dirty="0">
                <a:latin typeface="Consolas"/>
              </a:rPr>
              <a:t> --</a:t>
            </a:r>
            <a:r>
              <a:rPr lang="en-US" sz="1700" dirty="0" err="1">
                <a:latin typeface="Consolas"/>
              </a:rPr>
              <a:t>gtf</a:t>
            </a:r>
            <a:r>
              <a:rPr lang="en-US" sz="1700" dirty="0">
                <a:latin typeface="Consolas"/>
              </a:rPr>
              <a:t> </a:t>
            </a:r>
            <a:r>
              <a:rPr lang="en-US" sz="1700" dirty="0" err="1">
                <a:latin typeface="Consolas"/>
              </a:rPr>
              <a:t>genes.gtf</a:t>
            </a:r>
            <a:r>
              <a:rPr lang="en-US" sz="1700" dirty="0">
                <a:latin typeface="Consolas"/>
              </a:rPr>
              <a:t> --</a:t>
            </a:r>
            <a:r>
              <a:rPr lang="en-US" sz="1700" dirty="0" err="1">
                <a:latin typeface="Consolas"/>
              </a:rPr>
              <a:t>fasta</a:t>
            </a:r>
            <a:r>
              <a:rPr lang="en-US" sz="1700" dirty="0">
                <a:latin typeface="Consolas"/>
              </a:rPr>
              <a:t> </a:t>
            </a:r>
            <a:r>
              <a:rPr lang="en-US" sz="1700" dirty="0" err="1">
                <a:latin typeface="Consolas"/>
              </a:rPr>
              <a:t>genome.fasta</a:t>
            </a:r>
            <a:endParaRPr lang="en-US" sz="1700" dirty="0">
              <a:latin typeface="Consolas"/>
            </a:endParaRPr>
          </a:p>
        </p:txBody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7E2096DA-9E69-0691-F2EE-29B39CB0714F}"/>
              </a:ext>
            </a:extLst>
          </p:cNvPr>
          <p:cNvSpPr>
            <a:spLocks noGrp="1"/>
          </p:cNvSpPr>
          <p:nvPr/>
        </p:nvSpPr>
        <p:spPr>
          <a:xfrm>
            <a:off x="629389" y="5693075"/>
            <a:ext cx="11363318" cy="449817"/>
          </a:xfrm>
          <a:prstGeom prst="rect">
            <a:avLst/>
          </a:prstGeom>
          <a:solidFill>
            <a:srgbClr val="1E2E3D">
              <a:alpha val="10000"/>
            </a:srgbClr>
          </a:solidFill>
        </p:spPr>
        <p:txBody>
          <a:bodyPr wrap="square" lIns="114300" tIns="114300" rIns="114300" bIns="114300">
            <a:normAutofit fontScale="92500" lnSpcReduction="10000"/>
          </a:bodyPr>
          <a:lstStyle/>
          <a:p>
            <a:r>
              <a:rPr lang="en-US" sz="1700" dirty="0" err="1">
                <a:latin typeface="Consolas"/>
              </a:rPr>
              <a:t>sbatch</a:t>
            </a:r>
            <a:r>
              <a:rPr lang="en-US" sz="1700" dirty="0">
                <a:latin typeface="Consolas"/>
              </a:rPr>
              <a:t> </a:t>
            </a:r>
            <a:r>
              <a:rPr lang="en-US" sz="1700" dirty="0" err="1">
                <a:latin typeface="Consolas"/>
              </a:rPr>
              <a:t>rnaseq_script.sh</a:t>
            </a:r>
            <a:r>
              <a:rPr lang="en-US" sz="1700" dirty="0">
                <a:latin typeface="Consolas"/>
              </a:rPr>
              <a:t> # submit the job to </a:t>
            </a:r>
            <a:r>
              <a:rPr lang="en-US" sz="1700" dirty="0" err="1">
                <a:latin typeface="Consolas"/>
              </a:rPr>
              <a:t>slurm</a:t>
            </a:r>
            <a:endParaRPr lang="en-US" sz="1700" dirty="0">
              <a:latin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8DF662-4F68-AD46-7282-40AAA4A26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417287" cy="1671227"/>
          </a:xfrm>
        </p:spPr>
        <p:txBody>
          <a:bodyPr/>
          <a:lstStyle/>
          <a:p>
            <a:r>
              <a:rPr lang="en-US" dirty="0"/>
              <a:t>Compose a script with Open Composer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DFE1322-4B69-AAA9-69FF-D0536CA7F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91E01F-2F67-F3C0-63B4-883ED4EDA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56" y="957182"/>
            <a:ext cx="7538175" cy="53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1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245CC2-215C-1E80-AFE2-F3F3281F0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10139015" cy="1671227"/>
          </a:xfrm>
        </p:spPr>
        <p:txBody>
          <a:bodyPr/>
          <a:lstStyle/>
          <a:p>
            <a:r>
              <a:rPr lang="en-US" dirty="0"/>
              <a:t>Why biologist need workflow managers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BF730E2-9F3B-256E-95F1-1CBD10464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1571548" cy="2021066"/>
          </a:xfrm>
        </p:spPr>
        <p:txBody>
          <a:bodyPr/>
          <a:lstStyle/>
          <a:p>
            <a:r>
              <a:rPr lang="en-US" dirty="0"/>
              <a:t>They turn fragile command histories into repeatable, shareable analyses.</a:t>
            </a:r>
          </a:p>
          <a:p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CA96851-D647-C10B-FEA0-8082C70BD4D3}"/>
              </a:ext>
            </a:extLst>
          </p:cNvPr>
          <p:cNvSpPr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5D39"/>
                </a:solidFill>
              </a:rPr>
              <a:t>Without a workflow manager</a:t>
            </a:r>
            <a:endParaRPr lang="en-US" sz="17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ECBC7A-E2C5-5D09-B9F1-2C7F3FB859E3}"/>
              </a:ext>
            </a:extLst>
          </p:cNvPr>
          <p:cNvSpPr/>
          <p:nvPr/>
        </p:nvSpPr>
        <p:spPr>
          <a:xfrm>
            <a:off x="75895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B57"/>
                </a:solidFill>
              </a:rPr>
              <a:t>With a workflow manager</a:t>
            </a:r>
            <a:endParaRPr lang="en-US" sz="17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95E2DBE-83CF-FC25-B0BD-FDEF05B84BE8}"/>
              </a:ext>
            </a:extLst>
          </p:cNvPr>
          <p:cNvSpPr/>
          <p:nvPr/>
        </p:nvSpPr>
        <p:spPr>
          <a:xfrm>
            <a:off x="685800" y="1901952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FF2EA"/>
          </a:solidFill>
          <a:ln w="15240">
            <a:solidFill>
              <a:srgbClr val="F5B8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C260EE0-EBB5-22FB-D918-4035D56BCAD6}"/>
              </a:ext>
            </a:extLst>
          </p:cNvPr>
          <p:cNvSpPr/>
          <p:nvPr/>
        </p:nvSpPr>
        <p:spPr>
          <a:xfrm>
            <a:off x="795528" y="1993392"/>
            <a:ext cx="33467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95D39"/>
                </a:solidFill>
              </a:rPr>
              <a:t>trim.sh</a:t>
            </a:r>
            <a:endParaRPr lang="en-US" sz="12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A759C06-4B42-6E33-4755-AB96F269EF90}"/>
              </a:ext>
            </a:extLst>
          </p:cNvPr>
          <p:cNvSpPr/>
          <p:nvPr/>
        </p:nvSpPr>
        <p:spPr>
          <a:xfrm>
            <a:off x="941832" y="2679192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FF2EA"/>
          </a:solidFill>
          <a:ln w="15240">
            <a:solidFill>
              <a:srgbClr val="F5B8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CFBD279-7805-D0D3-6EDC-9E9BD25BF727}"/>
              </a:ext>
            </a:extLst>
          </p:cNvPr>
          <p:cNvSpPr/>
          <p:nvPr/>
        </p:nvSpPr>
        <p:spPr>
          <a:xfrm>
            <a:off x="1051560" y="2770632"/>
            <a:ext cx="33467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95D39"/>
                </a:solidFill>
              </a:rPr>
              <a:t>align_v2.sh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03D1827-A708-CEDB-710A-4B73F2828492}"/>
              </a:ext>
            </a:extLst>
          </p:cNvPr>
          <p:cNvSpPr/>
          <p:nvPr/>
        </p:nvSpPr>
        <p:spPr>
          <a:xfrm>
            <a:off x="521208" y="3456432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FF2EA"/>
          </a:solidFill>
          <a:ln w="15240">
            <a:solidFill>
              <a:srgbClr val="F5B8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82FB39-1990-8CAD-A5DD-72D07C5F86E7}"/>
              </a:ext>
            </a:extLst>
          </p:cNvPr>
          <p:cNvSpPr/>
          <p:nvPr/>
        </p:nvSpPr>
        <p:spPr>
          <a:xfrm>
            <a:off x="630936" y="3547872"/>
            <a:ext cx="33467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95D39"/>
                </a:solidFill>
              </a:rPr>
              <a:t>variants_final_final.sh</a:t>
            </a:r>
            <a:endParaRPr lang="en-US" sz="12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FC790C5-8C1C-3868-41BE-5A8577506D18}"/>
              </a:ext>
            </a:extLst>
          </p:cNvPr>
          <p:cNvSpPr/>
          <p:nvPr/>
        </p:nvSpPr>
        <p:spPr>
          <a:xfrm>
            <a:off x="850392" y="4233672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FF2EA"/>
          </a:solidFill>
          <a:ln w="15240">
            <a:solidFill>
              <a:srgbClr val="F5B8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EE691A5-5C5B-0458-CCD7-74FCCA848CA8}"/>
              </a:ext>
            </a:extLst>
          </p:cNvPr>
          <p:cNvSpPr/>
          <p:nvPr/>
        </p:nvSpPr>
        <p:spPr>
          <a:xfrm>
            <a:off x="960120" y="4325112"/>
            <a:ext cx="33467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95D39"/>
                </a:solidFill>
              </a:rPr>
              <a:t>manual notes + guesses</a:t>
            </a:r>
            <a:endParaRPr lang="en-US" sz="12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99CC065-C0EA-FE8F-954A-86822E9B9B06}"/>
              </a:ext>
            </a:extLst>
          </p:cNvPr>
          <p:cNvSpPr/>
          <p:nvPr/>
        </p:nvSpPr>
        <p:spPr>
          <a:xfrm>
            <a:off x="2514600" y="2404872"/>
            <a:ext cx="411480" cy="274320"/>
          </a:xfrm>
          <a:prstGeom prst="line">
            <a:avLst/>
          </a:prstGeom>
          <a:noFill/>
          <a:ln w="15240">
            <a:solidFill>
              <a:srgbClr val="D95D3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3985D7F-503F-45C4-8465-33ADED932143}"/>
              </a:ext>
            </a:extLst>
          </p:cNvPr>
          <p:cNvSpPr/>
          <p:nvPr/>
        </p:nvSpPr>
        <p:spPr>
          <a:xfrm>
            <a:off x="2926080" y="3182112"/>
            <a:ext cx="0" cy="274320"/>
          </a:xfrm>
          <a:prstGeom prst="line">
            <a:avLst/>
          </a:prstGeom>
          <a:noFill/>
          <a:ln w="15240">
            <a:solidFill>
              <a:srgbClr val="D95D3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BF6DA44-9027-4C66-8FC2-58C64A435A73}"/>
              </a:ext>
            </a:extLst>
          </p:cNvPr>
          <p:cNvSpPr/>
          <p:nvPr/>
        </p:nvSpPr>
        <p:spPr>
          <a:xfrm>
            <a:off x="2606040" y="3959352"/>
            <a:ext cx="320040" cy="274320"/>
          </a:xfrm>
          <a:prstGeom prst="line">
            <a:avLst/>
          </a:prstGeom>
          <a:noFill/>
          <a:ln w="15240">
            <a:solidFill>
              <a:srgbClr val="D95D3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A1C7D2A-40C7-0BA6-D0D2-F0512F930587}"/>
              </a:ext>
            </a:extLst>
          </p:cNvPr>
          <p:cNvSpPr/>
          <p:nvPr/>
        </p:nvSpPr>
        <p:spPr>
          <a:xfrm>
            <a:off x="822960" y="52303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B6670"/>
                </a:solidFill>
              </a:rPr>
              <a:t>Hard to restart • hard to share • easy to miss a step</a:t>
            </a:r>
            <a:endParaRPr lang="en-US" sz="142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7FFAF1C-EBE2-839D-C1C0-39A4A64003AD}"/>
              </a:ext>
            </a:extLst>
          </p:cNvPr>
          <p:cNvSpPr/>
          <p:nvPr/>
        </p:nvSpPr>
        <p:spPr>
          <a:xfrm>
            <a:off x="4983480" y="3035808"/>
            <a:ext cx="1828800" cy="731520"/>
          </a:xfrm>
          <a:prstGeom prst="chevron">
            <a:avLst/>
          </a:prstGeom>
          <a:solidFill>
            <a:srgbClr val="EAF4FF"/>
          </a:solidFill>
          <a:ln w="15240">
            <a:solidFill>
              <a:srgbClr val="2B7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6242E84-683E-21A3-8A30-6382217F2A99}"/>
              </a:ext>
            </a:extLst>
          </p:cNvPr>
          <p:cNvSpPr/>
          <p:nvPr/>
        </p:nvSpPr>
        <p:spPr>
          <a:xfrm>
            <a:off x="5148072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78C2"/>
                </a:solidFill>
              </a:rPr>
              <a:t>describe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78C2"/>
                </a:solidFill>
              </a:rPr>
              <a:t>the workflow</a:t>
            </a:r>
            <a:endParaRPr lang="en-US" sz="12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50478AC-36FB-7FB9-076C-EED9ED220477}"/>
              </a:ext>
            </a:extLst>
          </p:cNvPr>
          <p:cNvSpPr/>
          <p:nvPr/>
        </p:nvSpPr>
        <p:spPr>
          <a:xfrm>
            <a:off x="8321040" y="2231136"/>
            <a:ext cx="0" cy="786384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2DB46F8-F555-638A-1129-5BC64000A702}"/>
              </a:ext>
            </a:extLst>
          </p:cNvPr>
          <p:cNvSpPr/>
          <p:nvPr/>
        </p:nvSpPr>
        <p:spPr>
          <a:xfrm>
            <a:off x="8321040" y="3547872"/>
            <a:ext cx="0" cy="786384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D8AECE9-D834-3C7A-9B3D-5A447C3A32AB}"/>
              </a:ext>
            </a:extLst>
          </p:cNvPr>
          <p:cNvSpPr/>
          <p:nvPr/>
        </p:nvSpPr>
        <p:spPr>
          <a:xfrm>
            <a:off x="8321040" y="4864608"/>
            <a:ext cx="0" cy="786384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4845ABC-CC0F-4D76-2B52-A7F22F26D89E}"/>
              </a:ext>
            </a:extLst>
          </p:cNvPr>
          <p:cNvSpPr/>
          <p:nvPr/>
        </p:nvSpPr>
        <p:spPr>
          <a:xfrm>
            <a:off x="7315200" y="1975104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EAF7EF"/>
          </a:solidFill>
          <a:ln w="15240">
            <a:solidFill>
              <a:srgbClr val="99D6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127EFEC-1485-D7BB-0CB8-C86468D98E4C}"/>
              </a:ext>
            </a:extLst>
          </p:cNvPr>
          <p:cNvSpPr/>
          <p:nvPr/>
        </p:nvSpPr>
        <p:spPr>
          <a:xfrm>
            <a:off x="7424928" y="2066544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B57"/>
                </a:solidFill>
              </a:rPr>
              <a:t>FASTQ</a:t>
            </a:r>
            <a:endParaRPr lang="en-US" sz="13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49DE0CA5-B27E-B43D-0A30-319C4178D883}"/>
              </a:ext>
            </a:extLst>
          </p:cNvPr>
          <p:cNvSpPr/>
          <p:nvPr/>
        </p:nvSpPr>
        <p:spPr>
          <a:xfrm>
            <a:off x="7315200" y="3026664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EAF7EF"/>
          </a:solidFill>
          <a:ln w="15240">
            <a:solidFill>
              <a:srgbClr val="99D6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A03D6B0-8A32-A3B4-5A06-570C17389EC2}"/>
              </a:ext>
            </a:extLst>
          </p:cNvPr>
          <p:cNvSpPr/>
          <p:nvPr/>
        </p:nvSpPr>
        <p:spPr>
          <a:xfrm>
            <a:off x="7424928" y="3118104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57"/>
                </a:solidFill>
              </a:rPr>
              <a:t>QC / trim</a:t>
            </a:r>
            <a:endParaRPr lang="en-US" sz="13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CE23387-39E4-4D83-10D6-C3D08525E11B}"/>
              </a:ext>
            </a:extLst>
          </p:cNvPr>
          <p:cNvSpPr/>
          <p:nvPr/>
        </p:nvSpPr>
        <p:spPr>
          <a:xfrm>
            <a:off x="7315200" y="4078224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EAF7EF"/>
          </a:solidFill>
          <a:ln w="15240">
            <a:solidFill>
              <a:srgbClr val="99D6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E6E7788-9386-CBFC-D9B6-FCE995B43A6A}"/>
              </a:ext>
            </a:extLst>
          </p:cNvPr>
          <p:cNvSpPr/>
          <p:nvPr/>
        </p:nvSpPr>
        <p:spPr>
          <a:xfrm>
            <a:off x="7424928" y="4169664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57"/>
                </a:solidFill>
              </a:rPr>
              <a:t>align</a:t>
            </a:r>
            <a:endParaRPr lang="en-US" sz="13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B15D9D43-E7D6-0163-9D96-C68F0A828296}"/>
              </a:ext>
            </a:extLst>
          </p:cNvPr>
          <p:cNvSpPr/>
          <p:nvPr/>
        </p:nvSpPr>
        <p:spPr>
          <a:xfrm>
            <a:off x="7315200" y="5129784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EAF7EF"/>
          </a:solidFill>
          <a:ln w="15240">
            <a:solidFill>
              <a:srgbClr val="99D6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F796A7A-8B05-7269-C7FB-DB2DEB524B7E}"/>
              </a:ext>
            </a:extLst>
          </p:cNvPr>
          <p:cNvSpPr/>
          <p:nvPr/>
        </p:nvSpPr>
        <p:spPr>
          <a:xfrm>
            <a:off x="7424928" y="5221224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57"/>
                </a:solidFill>
              </a:rPr>
              <a:t>variants</a:t>
            </a:r>
            <a:endParaRPr lang="en-US" sz="13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152E17FB-6C3F-02DA-8AFE-3A35651ED6A2}"/>
              </a:ext>
            </a:extLst>
          </p:cNvPr>
          <p:cNvSpPr/>
          <p:nvPr/>
        </p:nvSpPr>
        <p:spPr>
          <a:xfrm>
            <a:off x="9582912" y="2057400"/>
            <a:ext cx="20574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24D"/>
                </a:solidFill>
              </a:rPr>
              <a:t>Each step knows its inputs, outputs, software, and resources.</a:t>
            </a:r>
            <a:endParaRPr lang="en-US" sz="15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364409F7-D4E2-BF91-BDDC-33B598A08431}"/>
              </a:ext>
            </a:extLst>
          </p:cNvPr>
          <p:cNvSpPr/>
          <p:nvPr/>
        </p:nvSpPr>
        <p:spPr>
          <a:xfrm>
            <a:off x="7882128" y="5733288"/>
            <a:ext cx="3474720" cy="283464"/>
          </a:xfrm>
          <a:prstGeom prst="roundRect">
            <a:avLst>
              <a:gd name="adj" fmla="val 20000"/>
            </a:avLst>
          </a:prstGeom>
          <a:solidFill>
            <a:srgbClr val="E8F7F7"/>
          </a:solidFill>
          <a:ln w="12700">
            <a:solidFill>
              <a:srgbClr val="E8F7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C316701-C62E-4B63-0563-0C5F116CF5ED}"/>
              </a:ext>
            </a:extLst>
          </p:cNvPr>
          <p:cNvSpPr/>
          <p:nvPr/>
        </p:nvSpPr>
        <p:spPr>
          <a:xfrm>
            <a:off x="8028432" y="577256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9A9A"/>
                </a:solidFill>
              </a:rPr>
              <a:t>rerun only what changed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620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10C184-F3D7-4EE7-450F-3230C7A257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nextflow</a:t>
            </a:r>
            <a:r>
              <a:rPr lang="en-US" dirty="0"/>
              <a:t>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1FAF3A6-2CF9-8AF4-0717-7E5832681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0657148" cy="1744067"/>
          </a:xfrm>
        </p:spPr>
        <p:txBody>
          <a:bodyPr/>
          <a:lstStyle/>
          <a:p>
            <a:r>
              <a:rPr lang="en-US" sz="2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scripting language built specifically for connecting analysis steps</a:t>
            </a:r>
            <a:endParaRPr lang="en-US" sz="2800" dirty="0"/>
          </a:p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323CB8-4D28-AD78-D9A6-12D88DAB0CA0}"/>
              </a:ext>
            </a:extLst>
          </p:cNvPr>
          <p:cNvSpPr/>
          <p:nvPr/>
        </p:nvSpPr>
        <p:spPr>
          <a:xfrm>
            <a:off x="739378" y="1473142"/>
            <a:ext cx="109992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Calibri" panose="020B0604020202020204" pitchFamily="34" charset="0"/>
                <a:ea typeface="Calibri" pitchFamily="34" charset="-122"/>
                <a:cs typeface="Calibri" panose="020B0604020202020204" pitchFamily="34" charset="0"/>
              </a:rPr>
              <a:t>A workflow manager designed for bioinformatics: you describe the steps and the dependencies, and Nextflow figures out what to run in parallel, where to run it, and how to restart on failure.</a:t>
            </a:r>
            <a:endParaRPr lang="en-US" dirty="0">
              <a:latin typeface="Calibri" panose="020B0604020202020204" pitchFamily="34" charset="0"/>
              <a:cs typeface="Calibri" panose="020B0604020202020204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D5A3203-2FB0-E370-0202-C952C928B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78" y="2438746"/>
            <a:ext cx="11174909" cy="294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62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111FB-4312-B439-48E3-3FB15F106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Hello, </a:t>
            </a:r>
            <a:r>
              <a:rPr lang="en-US" dirty="0" err="1"/>
              <a:t>nextflow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5C3E3D9-6BF5-EE25-B4A8-79F0189F8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423" y="982623"/>
            <a:ext cx="9089606" cy="452432"/>
          </a:xfrm>
        </p:spPr>
        <p:txBody>
          <a:bodyPr/>
          <a:lstStyle/>
          <a:p>
            <a:r>
              <a:rPr lang="en-US" dirty="0"/>
              <a:t>Run your first pipeline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0DDD57E-8C6D-F0C5-E305-9B9A6C2667F8}"/>
              </a:ext>
            </a:extLst>
          </p:cNvPr>
          <p:cNvSpPr/>
          <p:nvPr/>
        </p:nvSpPr>
        <p:spPr>
          <a:xfrm>
            <a:off x="707570" y="1894113"/>
            <a:ext cx="10885715" cy="3407229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CB68E04-07BD-61EC-A142-CFAD6987F3EA}"/>
              </a:ext>
            </a:extLst>
          </p:cNvPr>
          <p:cNvSpPr/>
          <p:nvPr/>
        </p:nvSpPr>
        <p:spPr>
          <a:xfrm>
            <a:off x="844731" y="1774370"/>
            <a:ext cx="10748554" cy="332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dirty="0">
              <a:solidFill>
                <a:srgbClr val="E8F3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module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load </a:t>
            </a:r>
            <a:r>
              <a:rPr lang="en-US" dirty="0" err="1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nextflow</a:t>
            </a:r>
            <a:endParaRPr lang="en-US" dirty="0">
              <a:solidFill>
                <a:srgbClr val="E8F3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en-US" dirty="0">
              <a:solidFill>
                <a:srgbClr val="E8F3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Built-in example — nothing to download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nextflow run hello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own hello world: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nextflow run hello.nf --greeting "Hi from HPC"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a real community pipeline</a:t>
            </a:r>
            <a:endParaRPr lang="en-US" dirty="0"/>
          </a:p>
          <a:p>
            <a:r>
              <a:rPr lang="en-US" dirty="0" err="1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nextflow</a:t>
            </a: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</a:t>
            </a:r>
            <a:r>
              <a:rPr lang="en-US" dirty="0" err="1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</a:t>
            </a: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-core/demo -r 1.1.0 -profile </a:t>
            </a:r>
            <a:r>
              <a:rPr lang="en-US" dirty="0" err="1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test,singularity</a:t>
            </a: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</a:t>
            </a:r>
            <a:r>
              <a:rPr lang="en-US" dirty="0" err="1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outdir</a:t>
            </a:r>
            <a:r>
              <a:rPr lang="en-US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 err="1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demo_output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B267609-E11E-BD5D-431D-1D7DC1A2EB74}"/>
              </a:ext>
            </a:extLst>
          </p:cNvPr>
          <p:cNvSpPr/>
          <p:nvPr/>
        </p:nvSpPr>
        <p:spPr>
          <a:xfrm>
            <a:off x="0" y="-16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96438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59D719-EC73-45ED-0E7B-03FFF2C57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7529771" cy="1144929"/>
          </a:xfrm>
        </p:spPr>
        <p:txBody>
          <a:bodyPr/>
          <a:lstStyle/>
          <a:p>
            <a:r>
              <a:rPr lang="en-US" dirty="0"/>
              <a:t>-resume ·  the killer feature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54C7AE6-16F4-7098-CF08-96414164C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0524470" cy="913070"/>
          </a:xfrm>
        </p:spPr>
        <p:txBody>
          <a:bodyPr/>
          <a:lstStyle/>
          <a:p>
            <a:r>
              <a:rPr lang="en-US" sz="2400" dirty="0"/>
              <a:t>Pipeline crashed at step 5 of 6? Fix the bug. Rerun with  -resume.</a:t>
            </a:r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0CCEFA-14FA-9D74-B397-94A0595FC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89" y="1819352"/>
            <a:ext cx="6733647" cy="130197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CBACFF4-62AB-A30F-3FE2-CF47F51E1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67" y="3577589"/>
            <a:ext cx="6649969" cy="1265704"/>
          </a:xfrm>
          <a:prstGeom prst="rect">
            <a:avLst/>
          </a:prstGeom>
        </p:spPr>
      </p:pic>
      <p:sp>
        <p:nvSpPr>
          <p:cNvPr id="46" name="Text 16">
            <a:extLst>
              <a:ext uri="{FF2B5EF4-FFF2-40B4-BE49-F238E27FC236}">
                <a16:creationId xmlns:a16="http://schemas.microsoft.com/office/drawing/2014/main" id="{79A8D04B-AAFB-41E6-80D7-8C1C1FD8AFF6}"/>
              </a:ext>
            </a:extLst>
          </p:cNvPr>
          <p:cNvSpPr/>
          <p:nvPr/>
        </p:nvSpPr>
        <p:spPr>
          <a:xfrm>
            <a:off x="7589520" y="2470339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rerun everything</a:t>
            </a:r>
            <a:endParaRPr lang="en-US" sz="2000" dirty="0"/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BA4A542C-3F9D-F867-44AB-C5254A4DAF1B}"/>
              </a:ext>
            </a:extLst>
          </p:cNvPr>
          <p:cNvSpPr/>
          <p:nvPr/>
        </p:nvSpPr>
        <p:spPr>
          <a:xfrm>
            <a:off x="7589520" y="4210441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→ pick up where you left off</a:t>
            </a:r>
          </a:p>
        </p:txBody>
      </p:sp>
      <p:sp>
        <p:nvSpPr>
          <p:cNvPr id="48" name="Shape 31">
            <a:extLst>
              <a:ext uri="{FF2B5EF4-FFF2-40B4-BE49-F238E27FC236}">
                <a16:creationId xmlns:a16="http://schemas.microsoft.com/office/drawing/2014/main" id="{85C6443D-9995-0ED1-6531-86981A4C5F02}"/>
              </a:ext>
            </a:extLst>
          </p:cNvPr>
          <p:cNvSpPr/>
          <p:nvPr/>
        </p:nvSpPr>
        <p:spPr>
          <a:xfrm>
            <a:off x="857472" y="4972827"/>
            <a:ext cx="9386047" cy="653457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9" name="Text 32">
            <a:extLst>
              <a:ext uri="{FF2B5EF4-FFF2-40B4-BE49-F238E27FC236}">
                <a16:creationId xmlns:a16="http://schemas.microsoft.com/office/drawing/2014/main" id="{309E7719-1809-3C43-9ED2-61DF7E9B844B}"/>
              </a:ext>
            </a:extLst>
          </p:cNvPr>
          <p:cNvSpPr/>
          <p:nvPr/>
        </p:nvSpPr>
        <p:spPr>
          <a:xfrm>
            <a:off x="1013907" y="5139536"/>
            <a:ext cx="9073179" cy="4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nextflow run main.nf -profile slurm -resume</a:t>
            </a:r>
            <a:endParaRPr lang="en-US" sz="2000" dirty="0"/>
          </a:p>
        </p:txBody>
      </p:sp>
      <p:sp>
        <p:nvSpPr>
          <p:cNvPr id="50" name="Text 33">
            <a:extLst>
              <a:ext uri="{FF2B5EF4-FFF2-40B4-BE49-F238E27FC236}">
                <a16:creationId xmlns:a16="http://schemas.microsoft.com/office/drawing/2014/main" id="{AACBBB4E-9313-E5B6-872D-DDC98D4DEC6C}"/>
              </a:ext>
            </a:extLst>
          </p:cNvPr>
          <p:cNvSpPr/>
          <p:nvPr/>
        </p:nvSpPr>
        <p:spPr>
          <a:xfrm>
            <a:off x="629388" y="5634805"/>
            <a:ext cx="100959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Nextflow caches every task in  work/  by a hash of its inputs + script. Unchanged tasks are reused.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86810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2C68ED-AE47-F0DA-FD94-151299CBF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5079079" cy="618631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nf</a:t>
            </a:r>
            <a:r>
              <a:rPr lang="en-US" dirty="0"/>
              <a:t>-core?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02637D7-81E0-0951-7792-CC6BD535D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0942159" cy="2131866"/>
          </a:xfrm>
        </p:spPr>
        <p:txBody>
          <a:bodyPr/>
          <a:lstStyle/>
          <a:p>
            <a:r>
              <a:rPr lang="en-US" sz="2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community, a standard, and a pipeline catalog — all in one</a:t>
            </a:r>
            <a:endParaRPr lang="en-US" sz="2800" dirty="0"/>
          </a:p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35A545-5C09-2D17-8C60-129D400B4F01}"/>
              </a:ext>
            </a:extLst>
          </p:cNvPr>
          <p:cNvSpPr/>
          <p:nvPr/>
        </p:nvSpPr>
        <p:spPr>
          <a:xfrm>
            <a:off x="790301" y="1575813"/>
            <a:ext cx="10299729" cy="1704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Calibri" panose="020B0604020202020204" pitchFamily="34" charset="0"/>
                <a:ea typeface="Calibri" pitchFamily="34" charset="-122"/>
                <a:cs typeface="Calibri" panose="020B0604020202020204" pitchFamily="34" charset="0"/>
              </a:rPr>
              <a:t>nf-core is a community-driven project that provides a curated set of open-source, peer-reviewed bioinformatics pipelines built on Nextflow. Every pipeline follows the same standards for code, documentation, testing, and reproducibility.</a:t>
            </a:r>
            <a:endParaRPr lang="en-US" sz="2400" dirty="0">
              <a:latin typeface="Calibri" panose="020B0604020202020204" pitchFamily="34" charset="0"/>
              <a:cs typeface="Calibri" panose="020B06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38B14D-68DC-EF8E-08BE-B23F8DFD0C48}"/>
              </a:ext>
            </a:extLst>
          </p:cNvPr>
          <p:cNvGrpSpPr/>
          <p:nvPr/>
        </p:nvGrpSpPr>
        <p:grpSpPr>
          <a:xfrm>
            <a:off x="899703" y="3429000"/>
            <a:ext cx="9617529" cy="2601571"/>
            <a:chOff x="388620" y="2331720"/>
            <a:chExt cx="8366760" cy="1891008"/>
          </a:xfrm>
        </p:grpSpPr>
        <p:sp>
          <p:nvSpPr>
            <p:cNvPr id="52" name="Shape 4">
              <a:extLst>
                <a:ext uri="{FF2B5EF4-FFF2-40B4-BE49-F238E27FC236}">
                  <a16:creationId xmlns:a16="http://schemas.microsoft.com/office/drawing/2014/main" id="{3E2379DA-4348-0591-B87D-F8081D3DAE82}"/>
                </a:ext>
              </a:extLst>
            </p:cNvPr>
            <p:cNvSpPr/>
            <p:nvPr/>
          </p:nvSpPr>
          <p:spPr>
            <a:xfrm>
              <a:off x="388620" y="2331720"/>
              <a:ext cx="2697480" cy="1463040"/>
            </a:xfrm>
            <a:prstGeom prst="rect">
              <a:avLst/>
            </a:prstGeom>
            <a:solidFill>
              <a:srgbClr val="E8F3F1"/>
            </a:solidFill>
            <a:ln w="12700">
              <a:solidFill>
                <a:srgbClr val="E8F3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5">
              <a:extLst>
                <a:ext uri="{FF2B5EF4-FFF2-40B4-BE49-F238E27FC236}">
                  <a16:creationId xmlns:a16="http://schemas.microsoft.com/office/drawing/2014/main" id="{61C607A2-A9CD-CE71-6BE8-545F041AAF05}"/>
                </a:ext>
              </a:extLst>
            </p:cNvPr>
            <p:cNvSpPr/>
            <p:nvPr/>
          </p:nvSpPr>
          <p:spPr>
            <a:xfrm>
              <a:off x="388620" y="2514600"/>
              <a:ext cx="26974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0A4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150+</a:t>
              </a:r>
              <a:endParaRPr lang="en-US" sz="4800" dirty="0"/>
            </a:p>
          </p:txBody>
        </p:sp>
        <p:sp>
          <p:nvSpPr>
            <p:cNvPr id="54" name="Text 6">
              <a:extLst>
                <a:ext uri="{FF2B5EF4-FFF2-40B4-BE49-F238E27FC236}">
                  <a16:creationId xmlns:a16="http://schemas.microsoft.com/office/drawing/2014/main" id="{9B4A6221-98A7-8C6E-D7A9-4E633FE99746}"/>
                </a:ext>
              </a:extLst>
            </p:cNvPr>
            <p:cNvSpPr/>
            <p:nvPr/>
          </p:nvSpPr>
          <p:spPr>
            <a:xfrm>
              <a:off x="388620" y="3291840"/>
              <a:ext cx="2697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curated pipelines</a:t>
              </a:r>
              <a:endParaRPr lang="en-US" sz="1300" dirty="0"/>
            </a:p>
          </p:txBody>
        </p:sp>
        <p:sp>
          <p:nvSpPr>
            <p:cNvPr id="55" name="Shape 7">
              <a:extLst>
                <a:ext uri="{FF2B5EF4-FFF2-40B4-BE49-F238E27FC236}">
                  <a16:creationId xmlns:a16="http://schemas.microsoft.com/office/drawing/2014/main" id="{FBED10D5-5A51-9466-1901-B00D1CF8BB28}"/>
                </a:ext>
              </a:extLst>
            </p:cNvPr>
            <p:cNvSpPr/>
            <p:nvPr/>
          </p:nvSpPr>
          <p:spPr>
            <a:xfrm>
              <a:off x="3223260" y="2331720"/>
              <a:ext cx="2697480" cy="1463040"/>
            </a:xfrm>
            <a:prstGeom prst="rect">
              <a:avLst/>
            </a:prstGeom>
            <a:solidFill>
              <a:srgbClr val="E8F3F1"/>
            </a:solidFill>
            <a:ln w="12700">
              <a:solidFill>
                <a:srgbClr val="E8F3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8">
              <a:extLst>
                <a:ext uri="{FF2B5EF4-FFF2-40B4-BE49-F238E27FC236}">
                  <a16:creationId xmlns:a16="http://schemas.microsoft.com/office/drawing/2014/main" id="{0878A533-21B9-7F28-DA04-001B5F4C0C8D}"/>
                </a:ext>
              </a:extLst>
            </p:cNvPr>
            <p:cNvSpPr/>
            <p:nvPr/>
          </p:nvSpPr>
          <p:spPr>
            <a:xfrm>
              <a:off x="3223260" y="2514600"/>
              <a:ext cx="26974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0A4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13,000+</a:t>
              </a:r>
              <a:endParaRPr lang="en-US" sz="4800" dirty="0"/>
            </a:p>
          </p:txBody>
        </p:sp>
        <p:sp>
          <p:nvSpPr>
            <p:cNvPr id="57" name="Text 9">
              <a:extLst>
                <a:ext uri="{FF2B5EF4-FFF2-40B4-BE49-F238E27FC236}">
                  <a16:creationId xmlns:a16="http://schemas.microsoft.com/office/drawing/2014/main" id="{FF0C4F81-67F7-0AE5-28D1-863C298370F1}"/>
                </a:ext>
              </a:extLst>
            </p:cNvPr>
            <p:cNvSpPr/>
            <p:nvPr/>
          </p:nvSpPr>
          <p:spPr>
            <a:xfrm>
              <a:off x="3223260" y="3291840"/>
              <a:ext cx="2697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community members</a:t>
              </a:r>
              <a:endParaRPr lang="en-US" sz="1300" dirty="0"/>
            </a:p>
          </p:txBody>
        </p:sp>
        <p:sp>
          <p:nvSpPr>
            <p:cNvPr id="58" name="Shape 10">
              <a:extLst>
                <a:ext uri="{FF2B5EF4-FFF2-40B4-BE49-F238E27FC236}">
                  <a16:creationId xmlns:a16="http://schemas.microsoft.com/office/drawing/2014/main" id="{03305CD2-1C6F-3B1F-8E8C-CC130F273F87}"/>
                </a:ext>
              </a:extLst>
            </p:cNvPr>
            <p:cNvSpPr/>
            <p:nvPr/>
          </p:nvSpPr>
          <p:spPr>
            <a:xfrm>
              <a:off x="6057900" y="2331720"/>
              <a:ext cx="2697480" cy="1463040"/>
            </a:xfrm>
            <a:prstGeom prst="rect">
              <a:avLst/>
            </a:prstGeom>
            <a:solidFill>
              <a:srgbClr val="E8F3F1"/>
            </a:solidFill>
            <a:ln w="12700">
              <a:solidFill>
                <a:srgbClr val="E8F3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11">
              <a:extLst>
                <a:ext uri="{FF2B5EF4-FFF2-40B4-BE49-F238E27FC236}">
                  <a16:creationId xmlns:a16="http://schemas.microsoft.com/office/drawing/2014/main" id="{DD188C71-86E8-3837-0222-FA512BD994A6}"/>
                </a:ext>
              </a:extLst>
            </p:cNvPr>
            <p:cNvSpPr/>
            <p:nvPr/>
          </p:nvSpPr>
          <p:spPr>
            <a:xfrm>
              <a:off x="6057900" y="2514600"/>
              <a:ext cx="26974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0A4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4800" dirty="0"/>
            </a:p>
          </p:txBody>
        </p:sp>
        <p:sp>
          <p:nvSpPr>
            <p:cNvPr id="60" name="Text 12">
              <a:extLst>
                <a:ext uri="{FF2B5EF4-FFF2-40B4-BE49-F238E27FC236}">
                  <a16:creationId xmlns:a16="http://schemas.microsoft.com/office/drawing/2014/main" id="{D6BCBB3F-072A-14A8-68C9-FED19CDDD8B7}"/>
                </a:ext>
              </a:extLst>
            </p:cNvPr>
            <p:cNvSpPr/>
            <p:nvPr/>
          </p:nvSpPr>
          <p:spPr>
            <a:xfrm>
              <a:off x="6057900" y="3291840"/>
              <a:ext cx="2697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source</a:t>
              </a:r>
              <a:endParaRPr lang="en-US" sz="1300" dirty="0"/>
            </a:p>
          </p:txBody>
        </p:sp>
        <p:sp>
          <p:nvSpPr>
            <p:cNvPr id="61" name="Text 13">
              <a:extLst>
                <a:ext uri="{FF2B5EF4-FFF2-40B4-BE49-F238E27FC236}">
                  <a16:creationId xmlns:a16="http://schemas.microsoft.com/office/drawing/2014/main" id="{48A153C8-3721-DCDC-02C4-2E6BCC03AACD}"/>
                </a:ext>
              </a:extLst>
            </p:cNvPr>
            <p:cNvSpPr/>
            <p:nvPr/>
          </p:nvSpPr>
          <p:spPr>
            <a:xfrm>
              <a:off x="457199" y="3902688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kern="0" spc="200" dirty="0">
                  <a:solidFill>
                    <a:srgbClr val="52B7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nf-co.re  ·  github.com/nf-core  ·  Slack with 14k+ researchers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12368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41D0AC-786D-645D-CC9D-6ABD9BF6A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8958747" cy="167122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nf</a:t>
            </a:r>
            <a:r>
              <a:rPr lang="en-US" dirty="0"/>
              <a:t>-core catalog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0D8233D-D1A1-324B-89C8-80C1504D1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1571548" cy="913070"/>
          </a:xfrm>
        </p:spPr>
        <p:txBody>
          <a:bodyPr/>
          <a:lstStyle/>
          <a:p>
            <a:r>
              <a:rPr lang="en-US" sz="2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the most-used pipelines — chances are your analysis is here</a:t>
            </a:r>
            <a:endParaRPr lang="en-US" sz="2400" dirty="0"/>
          </a:p>
          <a:p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1F2C516-02BB-2A04-1D35-B006F634C42F}"/>
              </a:ext>
            </a:extLst>
          </p:cNvPr>
          <p:cNvGrpSpPr/>
          <p:nvPr/>
        </p:nvGrpSpPr>
        <p:grpSpPr>
          <a:xfrm>
            <a:off x="769620" y="1596607"/>
            <a:ext cx="10652760" cy="4304211"/>
            <a:chOff x="320040" y="1371600"/>
            <a:chExt cx="8503920" cy="3429000"/>
          </a:xfrm>
        </p:grpSpPr>
        <p:sp>
          <p:nvSpPr>
            <p:cNvPr id="38" name="Shape 3">
              <a:extLst>
                <a:ext uri="{FF2B5EF4-FFF2-40B4-BE49-F238E27FC236}">
                  <a16:creationId xmlns:a16="http://schemas.microsoft.com/office/drawing/2014/main" id="{F8C7415A-E97D-7065-0F6D-9CCB503C129E}"/>
                </a:ext>
              </a:extLst>
            </p:cNvPr>
            <p:cNvSpPr/>
            <p:nvPr/>
          </p:nvSpPr>
          <p:spPr>
            <a:xfrm>
              <a:off x="320040" y="1371600"/>
              <a:ext cx="2743200" cy="457200"/>
            </a:xfrm>
            <a:prstGeom prst="rect">
              <a:avLst/>
            </a:prstGeom>
            <a:solidFill>
              <a:srgbClr val="0A4F4E"/>
            </a:solidFill>
            <a:ln w="12700">
              <a:solidFill>
                <a:srgbClr val="0A4F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BBAC5E23-FEAF-535A-0A9D-0FC242BB1B6B}"/>
                </a:ext>
              </a:extLst>
            </p:cNvPr>
            <p:cNvSpPr/>
            <p:nvPr/>
          </p:nvSpPr>
          <p:spPr>
            <a:xfrm>
              <a:off x="457200" y="137160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Bulk sequencing</a:t>
              </a:r>
              <a:endParaRPr lang="en-US" dirty="0"/>
            </a:p>
          </p:txBody>
        </p:sp>
        <p:sp>
          <p:nvSpPr>
            <p:cNvPr id="40" name="Shape 5">
              <a:extLst>
                <a:ext uri="{FF2B5EF4-FFF2-40B4-BE49-F238E27FC236}">
                  <a16:creationId xmlns:a16="http://schemas.microsoft.com/office/drawing/2014/main" id="{E9BF9BE2-9C8F-C83C-D913-895E3B7FE6D6}"/>
                </a:ext>
              </a:extLst>
            </p:cNvPr>
            <p:cNvSpPr/>
            <p:nvPr/>
          </p:nvSpPr>
          <p:spPr>
            <a:xfrm>
              <a:off x="320040" y="1828800"/>
              <a:ext cx="2743200" cy="265176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6EF0E606-3E67-C937-4ACC-B73AB274E77E}"/>
                </a:ext>
              </a:extLst>
            </p:cNvPr>
            <p:cNvSpPr/>
            <p:nvPr/>
          </p:nvSpPr>
          <p:spPr>
            <a:xfrm>
              <a:off x="502920" y="1965960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nf-core/rnaseq</a:t>
              </a:r>
              <a:endParaRPr lang="en-US" dirty="0"/>
            </a:p>
          </p:txBody>
        </p:sp>
        <p:sp>
          <p:nvSpPr>
            <p:cNvPr id="42" name="Text 7">
              <a:extLst>
                <a:ext uri="{FF2B5EF4-FFF2-40B4-BE49-F238E27FC236}">
                  <a16:creationId xmlns:a16="http://schemas.microsoft.com/office/drawing/2014/main" id="{3D345446-62FD-5AF4-9EE8-A3FB8D5E4A4E}"/>
                </a:ext>
              </a:extLst>
            </p:cNvPr>
            <p:cNvSpPr/>
            <p:nvPr/>
          </p:nvSpPr>
          <p:spPr>
            <a:xfrm>
              <a:off x="502920" y="2194560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Bulk RNA-seq  ★</a:t>
              </a:r>
              <a:endParaRPr lang="en-US" sz="1600" dirty="0"/>
            </a:p>
          </p:txBody>
        </p:sp>
        <p:sp>
          <p:nvSpPr>
            <p:cNvPr id="43" name="Text 8">
              <a:extLst>
                <a:ext uri="{FF2B5EF4-FFF2-40B4-BE49-F238E27FC236}">
                  <a16:creationId xmlns:a16="http://schemas.microsoft.com/office/drawing/2014/main" id="{F46F4EA2-2893-E8D6-3B3C-B5512D8D7FC8}"/>
                </a:ext>
              </a:extLst>
            </p:cNvPr>
            <p:cNvSpPr/>
            <p:nvPr/>
          </p:nvSpPr>
          <p:spPr>
            <a:xfrm>
              <a:off x="502920" y="2532888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nf-core/sarek</a:t>
              </a:r>
              <a:endParaRPr lang="en-US" dirty="0"/>
            </a:p>
          </p:txBody>
        </p:sp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0E1E8FDE-43B4-1DD1-825A-ECF216A45E8F}"/>
                </a:ext>
              </a:extLst>
            </p:cNvPr>
            <p:cNvSpPr/>
            <p:nvPr/>
          </p:nvSpPr>
          <p:spPr>
            <a:xfrm>
              <a:off x="502920" y="2761488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Germline + somatic variants</a:t>
              </a:r>
              <a:endParaRPr lang="en-US" sz="1600" dirty="0"/>
            </a:p>
          </p:txBody>
        </p:sp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96CDBEA0-1068-AEA8-E184-CE29A3217612}"/>
                </a:ext>
              </a:extLst>
            </p:cNvPr>
            <p:cNvSpPr/>
            <p:nvPr/>
          </p:nvSpPr>
          <p:spPr>
            <a:xfrm>
              <a:off x="502920" y="3099816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nf-core/chipseq</a:t>
              </a:r>
              <a:endParaRPr lang="en-US" dirty="0"/>
            </a:p>
          </p:txBody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A17A1920-1349-959A-707D-C7C3CE36D3CB}"/>
                </a:ext>
              </a:extLst>
            </p:cNvPr>
            <p:cNvSpPr/>
            <p:nvPr/>
          </p:nvSpPr>
          <p:spPr>
            <a:xfrm>
              <a:off x="502920" y="3328416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ChIP-seq</a:t>
              </a:r>
              <a:endParaRPr lang="en-US" sz="1600" dirty="0"/>
            </a:p>
          </p:txBody>
        </p:sp>
        <p:sp>
          <p:nvSpPr>
            <p:cNvPr id="47" name="Text 12">
              <a:extLst>
                <a:ext uri="{FF2B5EF4-FFF2-40B4-BE49-F238E27FC236}">
                  <a16:creationId xmlns:a16="http://schemas.microsoft.com/office/drawing/2014/main" id="{663F8CDF-E8F9-FFE2-5CCD-F095907722C3}"/>
                </a:ext>
              </a:extLst>
            </p:cNvPr>
            <p:cNvSpPr/>
            <p:nvPr/>
          </p:nvSpPr>
          <p:spPr>
            <a:xfrm>
              <a:off x="502920" y="3666744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nf-core/atacseq</a:t>
              </a:r>
              <a:endParaRPr lang="en-US" dirty="0"/>
            </a:p>
          </p:txBody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21AABE71-7609-0170-1C56-3672AFF63247}"/>
                </a:ext>
              </a:extLst>
            </p:cNvPr>
            <p:cNvSpPr/>
            <p:nvPr/>
          </p:nvSpPr>
          <p:spPr>
            <a:xfrm>
              <a:off x="502920" y="3895344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ATAC-seq</a:t>
              </a:r>
              <a:endParaRPr lang="en-US" sz="1600" dirty="0"/>
            </a:p>
          </p:txBody>
        </p:sp>
        <p:sp>
          <p:nvSpPr>
            <p:cNvPr id="49" name="Shape 14">
              <a:extLst>
                <a:ext uri="{FF2B5EF4-FFF2-40B4-BE49-F238E27FC236}">
                  <a16:creationId xmlns:a16="http://schemas.microsoft.com/office/drawing/2014/main" id="{BD916C00-99B5-11BD-78A1-BFF142E7F8DE}"/>
                </a:ext>
              </a:extLst>
            </p:cNvPr>
            <p:cNvSpPr/>
            <p:nvPr/>
          </p:nvSpPr>
          <p:spPr>
            <a:xfrm>
              <a:off x="3200400" y="1371600"/>
              <a:ext cx="2743200" cy="457200"/>
            </a:xfrm>
            <a:prstGeom prst="rect">
              <a:avLst/>
            </a:prstGeom>
            <a:solidFill>
              <a:srgbClr val="0A4F4E"/>
            </a:solidFill>
            <a:ln w="12700">
              <a:solidFill>
                <a:srgbClr val="0A4F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666A8F80-24EF-CBD8-A1BE-AB5ACAF496F8}"/>
                </a:ext>
              </a:extLst>
            </p:cNvPr>
            <p:cNvSpPr/>
            <p:nvPr/>
          </p:nvSpPr>
          <p:spPr>
            <a:xfrm>
              <a:off x="3337560" y="137160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cell</a:t>
              </a:r>
              <a:endParaRPr lang="en-US" dirty="0"/>
            </a:p>
          </p:txBody>
        </p:sp>
        <p:sp>
          <p:nvSpPr>
            <p:cNvPr id="51" name="Shape 16">
              <a:extLst>
                <a:ext uri="{FF2B5EF4-FFF2-40B4-BE49-F238E27FC236}">
                  <a16:creationId xmlns:a16="http://schemas.microsoft.com/office/drawing/2014/main" id="{F045F5B7-A07F-B3DF-0A0C-8B508D871F0C}"/>
                </a:ext>
              </a:extLst>
            </p:cNvPr>
            <p:cNvSpPr/>
            <p:nvPr/>
          </p:nvSpPr>
          <p:spPr>
            <a:xfrm>
              <a:off x="3200400" y="1828800"/>
              <a:ext cx="2743200" cy="265176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Text 17">
              <a:extLst>
                <a:ext uri="{FF2B5EF4-FFF2-40B4-BE49-F238E27FC236}">
                  <a16:creationId xmlns:a16="http://schemas.microsoft.com/office/drawing/2014/main" id="{0EDF7220-9FFF-73CB-B784-74569F8DADEF}"/>
                </a:ext>
              </a:extLst>
            </p:cNvPr>
            <p:cNvSpPr/>
            <p:nvPr/>
          </p:nvSpPr>
          <p:spPr>
            <a:xfrm>
              <a:off x="3383280" y="1965960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nf-core/scrnaseq</a:t>
              </a:r>
              <a:endParaRPr lang="en-US" dirty="0"/>
            </a:p>
          </p:txBody>
        </p:sp>
        <p:sp>
          <p:nvSpPr>
            <p:cNvPr id="53" name="Text 18">
              <a:extLst>
                <a:ext uri="{FF2B5EF4-FFF2-40B4-BE49-F238E27FC236}">
                  <a16:creationId xmlns:a16="http://schemas.microsoft.com/office/drawing/2014/main" id="{45E14AE7-1996-857C-B96C-ECBFA027EEAD}"/>
                </a:ext>
              </a:extLst>
            </p:cNvPr>
            <p:cNvSpPr/>
            <p:nvPr/>
          </p:nvSpPr>
          <p:spPr>
            <a:xfrm>
              <a:off x="3383280" y="2194560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Single-cell RNA-seq</a:t>
              </a:r>
              <a:endParaRPr lang="en-US" sz="1600" dirty="0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C7D2F1E9-BD79-EBFA-F636-A8BFA5010D36}"/>
                </a:ext>
              </a:extLst>
            </p:cNvPr>
            <p:cNvSpPr/>
            <p:nvPr/>
          </p:nvSpPr>
          <p:spPr>
            <a:xfrm>
              <a:off x="3383280" y="2584923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nf-core/scnanoseq</a:t>
              </a:r>
              <a:endParaRPr lang="en-US" dirty="0"/>
            </a:p>
          </p:txBody>
        </p:sp>
        <p:sp>
          <p:nvSpPr>
            <p:cNvPr id="55" name="Text 20">
              <a:extLst>
                <a:ext uri="{FF2B5EF4-FFF2-40B4-BE49-F238E27FC236}">
                  <a16:creationId xmlns:a16="http://schemas.microsoft.com/office/drawing/2014/main" id="{D0DF4C21-1228-E602-16E5-792FC49000C3}"/>
                </a:ext>
              </a:extLst>
            </p:cNvPr>
            <p:cNvSpPr/>
            <p:nvPr/>
          </p:nvSpPr>
          <p:spPr>
            <a:xfrm>
              <a:off x="3383280" y="2813519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Single-cell nanopore</a:t>
              </a:r>
              <a:endParaRPr lang="en-US" sz="1600" dirty="0"/>
            </a:p>
          </p:txBody>
        </p:sp>
        <p:sp>
          <p:nvSpPr>
            <p:cNvPr id="58" name="Shape 23">
              <a:extLst>
                <a:ext uri="{FF2B5EF4-FFF2-40B4-BE49-F238E27FC236}">
                  <a16:creationId xmlns:a16="http://schemas.microsoft.com/office/drawing/2014/main" id="{0036F68C-D848-7150-0D44-8FDD888EB087}"/>
                </a:ext>
              </a:extLst>
            </p:cNvPr>
            <p:cNvSpPr/>
            <p:nvPr/>
          </p:nvSpPr>
          <p:spPr>
            <a:xfrm>
              <a:off x="6080760" y="1371600"/>
              <a:ext cx="2743200" cy="457200"/>
            </a:xfrm>
            <a:prstGeom prst="rect">
              <a:avLst/>
            </a:prstGeom>
            <a:solidFill>
              <a:srgbClr val="0A4F4E"/>
            </a:solidFill>
            <a:ln w="12700">
              <a:solidFill>
                <a:srgbClr val="0A4F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24">
              <a:extLst>
                <a:ext uri="{FF2B5EF4-FFF2-40B4-BE49-F238E27FC236}">
                  <a16:creationId xmlns:a16="http://schemas.microsoft.com/office/drawing/2014/main" id="{A06C3994-592C-CA9C-1DF9-489E8EA78566}"/>
                </a:ext>
              </a:extLst>
            </p:cNvPr>
            <p:cNvSpPr/>
            <p:nvPr/>
          </p:nvSpPr>
          <p:spPr>
            <a:xfrm>
              <a:off x="6217920" y="137160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Other omics</a:t>
              </a:r>
              <a:endParaRPr lang="en-US" dirty="0"/>
            </a:p>
          </p:txBody>
        </p:sp>
        <p:sp>
          <p:nvSpPr>
            <p:cNvPr id="60" name="Shape 25">
              <a:extLst>
                <a:ext uri="{FF2B5EF4-FFF2-40B4-BE49-F238E27FC236}">
                  <a16:creationId xmlns:a16="http://schemas.microsoft.com/office/drawing/2014/main" id="{4FA11D44-3490-3E03-79A3-EA333BBF2DD3}"/>
                </a:ext>
              </a:extLst>
            </p:cNvPr>
            <p:cNvSpPr/>
            <p:nvPr/>
          </p:nvSpPr>
          <p:spPr>
            <a:xfrm>
              <a:off x="6080760" y="1828800"/>
              <a:ext cx="2743200" cy="265176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26">
              <a:extLst>
                <a:ext uri="{FF2B5EF4-FFF2-40B4-BE49-F238E27FC236}">
                  <a16:creationId xmlns:a16="http://schemas.microsoft.com/office/drawing/2014/main" id="{DE13BECD-9331-FB52-8C06-1B660DDD64F5}"/>
                </a:ext>
              </a:extLst>
            </p:cNvPr>
            <p:cNvSpPr/>
            <p:nvPr/>
          </p:nvSpPr>
          <p:spPr>
            <a:xfrm>
              <a:off x="6263640" y="1965960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nf-core/ampliseq</a:t>
              </a:r>
              <a:endParaRPr lang="en-US" dirty="0"/>
            </a:p>
          </p:txBody>
        </p:sp>
        <p:sp>
          <p:nvSpPr>
            <p:cNvPr id="62" name="Text 27">
              <a:extLst>
                <a:ext uri="{FF2B5EF4-FFF2-40B4-BE49-F238E27FC236}">
                  <a16:creationId xmlns:a16="http://schemas.microsoft.com/office/drawing/2014/main" id="{659583C4-8F90-11CD-47D1-74185E6C4424}"/>
                </a:ext>
              </a:extLst>
            </p:cNvPr>
            <p:cNvSpPr/>
            <p:nvPr/>
          </p:nvSpPr>
          <p:spPr>
            <a:xfrm>
              <a:off x="6263640" y="2194560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16S / amplicon</a:t>
              </a:r>
              <a:endParaRPr lang="en-US" sz="1600" dirty="0"/>
            </a:p>
          </p:txBody>
        </p:sp>
        <p:sp>
          <p:nvSpPr>
            <p:cNvPr id="63" name="Text 28">
              <a:extLst>
                <a:ext uri="{FF2B5EF4-FFF2-40B4-BE49-F238E27FC236}">
                  <a16:creationId xmlns:a16="http://schemas.microsoft.com/office/drawing/2014/main" id="{8B03572F-6D05-20C3-8A84-2DB4929B6E1B}"/>
                </a:ext>
              </a:extLst>
            </p:cNvPr>
            <p:cNvSpPr/>
            <p:nvPr/>
          </p:nvSpPr>
          <p:spPr>
            <a:xfrm>
              <a:off x="6263640" y="2532888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nf-core/mag</a:t>
              </a:r>
              <a:endParaRPr lang="en-US" dirty="0"/>
            </a:p>
          </p:txBody>
        </p:sp>
        <p:sp>
          <p:nvSpPr>
            <p:cNvPr id="64" name="Text 29">
              <a:extLst>
                <a:ext uri="{FF2B5EF4-FFF2-40B4-BE49-F238E27FC236}">
                  <a16:creationId xmlns:a16="http://schemas.microsoft.com/office/drawing/2014/main" id="{128500DF-79CE-46C3-ED86-2BA6F5E64DE1}"/>
                </a:ext>
              </a:extLst>
            </p:cNvPr>
            <p:cNvSpPr/>
            <p:nvPr/>
          </p:nvSpPr>
          <p:spPr>
            <a:xfrm>
              <a:off x="6263640" y="2761488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Metagenomics</a:t>
              </a:r>
              <a:endParaRPr lang="en-US" sz="1600" dirty="0"/>
            </a:p>
          </p:txBody>
        </p:sp>
        <p:sp>
          <p:nvSpPr>
            <p:cNvPr id="65" name="Text 30">
              <a:extLst>
                <a:ext uri="{FF2B5EF4-FFF2-40B4-BE49-F238E27FC236}">
                  <a16:creationId xmlns:a16="http://schemas.microsoft.com/office/drawing/2014/main" id="{5A9DC049-FF0E-D410-810E-4F1B0CCF04FE}"/>
                </a:ext>
              </a:extLst>
            </p:cNvPr>
            <p:cNvSpPr/>
            <p:nvPr/>
          </p:nvSpPr>
          <p:spPr>
            <a:xfrm>
              <a:off x="6263640" y="3099816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nf-core/methylseq</a:t>
              </a:r>
              <a:endParaRPr lang="en-US" dirty="0"/>
            </a:p>
          </p:txBody>
        </p:sp>
        <p:sp>
          <p:nvSpPr>
            <p:cNvPr id="66" name="Text 31">
              <a:extLst>
                <a:ext uri="{FF2B5EF4-FFF2-40B4-BE49-F238E27FC236}">
                  <a16:creationId xmlns:a16="http://schemas.microsoft.com/office/drawing/2014/main" id="{9262EC1E-744A-9B06-08B3-71D6329D4758}"/>
                </a:ext>
              </a:extLst>
            </p:cNvPr>
            <p:cNvSpPr/>
            <p:nvPr/>
          </p:nvSpPr>
          <p:spPr>
            <a:xfrm>
              <a:off x="6263640" y="3328416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Bisulfite / methylation</a:t>
              </a:r>
              <a:endParaRPr lang="en-US" sz="1600" dirty="0"/>
            </a:p>
          </p:txBody>
        </p:sp>
        <p:sp>
          <p:nvSpPr>
            <p:cNvPr id="67" name="Text 32">
              <a:extLst>
                <a:ext uri="{FF2B5EF4-FFF2-40B4-BE49-F238E27FC236}">
                  <a16:creationId xmlns:a16="http://schemas.microsoft.com/office/drawing/2014/main" id="{F9FB40E4-6C90-66D7-ABF8-36C3C909C869}"/>
                </a:ext>
              </a:extLst>
            </p:cNvPr>
            <p:cNvSpPr/>
            <p:nvPr/>
          </p:nvSpPr>
          <p:spPr>
            <a:xfrm>
              <a:off x="6263640" y="3666744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nf-core/proteinfold</a:t>
              </a:r>
              <a:endParaRPr lang="en-US" dirty="0"/>
            </a:p>
          </p:txBody>
        </p:sp>
        <p:sp>
          <p:nvSpPr>
            <p:cNvPr id="68" name="Text 33">
              <a:extLst>
                <a:ext uri="{FF2B5EF4-FFF2-40B4-BE49-F238E27FC236}">
                  <a16:creationId xmlns:a16="http://schemas.microsoft.com/office/drawing/2014/main" id="{81B58F6B-91F4-697D-7817-08E148625D3B}"/>
                </a:ext>
              </a:extLst>
            </p:cNvPr>
            <p:cNvSpPr/>
            <p:nvPr/>
          </p:nvSpPr>
          <p:spPr>
            <a:xfrm>
              <a:off x="6263640" y="3895344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AlphaFold2 / ColabFold</a:t>
              </a:r>
              <a:endParaRPr lang="en-US" sz="1600" dirty="0"/>
            </a:p>
          </p:txBody>
        </p:sp>
        <p:sp>
          <p:nvSpPr>
            <p:cNvPr id="69" name="Text 34">
              <a:extLst>
                <a:ext uri="{FF2B5EF4-FFF2-40B4-BE49-F238E27FC236}">
                  <a16:creationId xmlns:a16="http://schemas.microsoft.com/office/drawing/2014/main" id="{2E954374-28D7-96E8-33E5-EEC30339BB1C}"/>
                </a:ext>
              </a:extLst>
            </p:cNvPr>
            <p:cNvSpPr/>
            <p:nvPr/>
          </p:nvSpPr>
          <p:spPr>
            <a:xfrm>
              <a:off x="457200" y="4572000"/>
              <a:ext cx="8229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Browse all 150+ at  nf-co.re/pipelines  —  search by keyword, organism, or data type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2790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9F6BDF-C68D-C88F-B310-4B6F4D95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90" y="357095"/>
            <a:ext cx="9623320" cy="1671227"/>
          </a:xfrm>
        </p:spPr>
        <p:txBody>
          <a:bodyPr/>
          <a:lstStyle/>
          <a:p>
            <a:r>
              <a:rPr lang="en-US" dirty="0"/>
              <a:t>Three ways to launch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EEDDEF0-CB94-8373-E57A-3523BA5E0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0192328" cy="1660968"/>
          </a:xfrm>
        </p:spPr>
        <p:txBody>
          <a:bodyPr/>
          <a:lstStyle/>
          <a:p>
            <a:r>
              <a:rPr lang="en-US" dirty="0"/>
              <a:t>Pick whichever fits your workflow — all produce the same run</a:t>
            </a:r>
          </a:p>
          <a:p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30F7A5A-E52C-D705-1B72-9CBE7C5678FB}"/>
              </a:ext>
            </a:extLst>
          </p:cNvPr>
          <p:cNvGrpSpPr/>
          <p:nvPr/>
        </p:nvGrpSpPr>
        <p:grpSpPr>
          <a:xfrm>
            <a:off x="914400" y="1805448"/>
            <a:ext cx="10192328" cy="4868899"/>
            <a:chOff x="914400" y="1805449"/>
            <a:chExt cx="8366760" cy="3859245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73DBDC1-CB3E-7907-D7E7-2F1690E9E0D6}"/>
                </a:ext>
              </a:extLst>
            </p:cNvPr>
            <p:cNvSpPr/>
            <p:nvPr/>
          </p:nvSpPr>
          <p:spPr>
            <a:xfrm>
              <a:off x="914400" y="1805449"/>
              <a:ext cx="2697480" cy="822960"/>
            </a:xfrm>
            <a:prstGeom prst="rect">
              <a:avLst/>
            </a:prstGeom>
            <a:solidFill>
              <a:srgbClr val="0A4F4E"/>
            </a:solidFill>
            <a:ln w="12700">
              <a:solidFill>
                <a:srgbClr val="0A4F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D998E16D-ABEE-8A81-211A-1454411B7683}"/>
                </a:ext>
              </a:extLst>
            </p:cNvPr>
            <p:cNvSpPr/>
            <p:nvPr/>
          </p:nvSpPr>
          <p:spPr>
            <a:xfrm>
              <a:off x="1097280" y="1896889"/>
              <a:ext cx="23317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nextflow run</a:t>
              </a:r>
              <a:endParaRPr lang="en-US" sz="2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933E19B4-E5ED-4828-1C59-1580A209ABCB}"/>
                </a:ext>
              </a:extLst>
            </p:cNvPr>
            <p:cNvSpPr/>
            <p:nvPr/>
          </p:nvSpPr>
          <p:spPr>
            <a:xfrm>
              <a:off x="1097280" y="2262649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52B7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you already know</a:t>
              </a:r>
              <a:endParaRPr lang="en-US" sz="16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3229CA9E-D669-9853-B2EE-E967BDD0A524}"/>
                </a:ext>
              </a:extLst>
            </p:cNvPr>
            <p:cNvSpPr/>
            <p:nvPr/>
          </p:nvSpPr>
          <p:spPr>
            <a:xfrm>
              <a:off x="914400" y="2628409"/>
              <a:ext cx="2697480" cy="242316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00584369-DBD7-1CD5-5DD2-FA53E70CE115}"/>
                </a:ext>
              </a:extLst>
            </p:cNvPr>
            <p:cNvSpPr/>
            <p:nvPr/>
          </p:nvSpPr>
          <p:spPr>
            <a:xfrm>
              <a:off x="1051560" y="2765569"/>
              <a:ext cx="2423160" cy="1280160"/>
            </a:xfrm>
            <a:prstGeom prst="rect">
              <a:avLst/>
            </a:prstGeom>
            <a:solidFill>
              <a:srgbClr val="0F1419"/>
            </a:solidFill>
            <a:ln w="12700">
              <a:solidFill>
                <a:srgbClr val="0F141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AF7D679-FAC8-31B9-93F8-88B46F20D2C4}"/>
                </a:ext>
              </a:extLst>
            </p:cNvPr>
            <p:cNvSpPr/>
            <p:nvPr/>
          </p:nvSpPr>
          <p:spPr>
            <a:xfrm>
              <a:off x="1188720" y="2857009"/>
              <a:ext cx="21488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nextflow run nf-core/rnaseq \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-profile test,singularity \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--outdir results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E93733A-2D4D-77FF-C678-96A37691F8D2}"/>
                </a:ext>
              </a:extLst>
            </p:cNvPr>
            <p:cNvSpPr/>
            <p:nvPr/>
          </p:nvSpPr>
          <p:spPr>
            <a:xfrm>
              <a:off x="1097280" y="4137169"/>
              <a:ext cx="23317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Direct, scriptable. What we'll use today.</a:t>
              </a:r>
              <a:endParaRPr lang="en-US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2781FBF7-51CC-59D7-0B12-BB7367FE2F2F}"/>
                </a:ext>
              </a:extLst>
            </p:cNvPr>
            <p:cNvSpPr/>
            <p:nvPr/>
          </p:nvSpPr>
          <p:spPr>
            <a:xfrm>
              <a:off x="3749040" y="1805449"/>
              <a:ext cx="2697480" cy="822960"/>
            </a:xfrm>
            <a:prstGeom prst="rect">
              <a:avLst/>
            </a:prstGeom>
            <a:solidFill>
              <a:srgbClr val="0A4F4E"/>
            </a:solidFill>
            <a:ln w="12700">
              <a:solidFill>
                <a:srgbClr val="0A4F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ED3EA032-8EB5-1E8C-F5B2-86FB95BF3BD9}"/>
                </a:ext>
              </a:extLst>
            </p:cNvPr>
            <p:cNvSpPr/>
            <p:nvPr/>
          </p:nvSpPr>
          <p:spPr>
            <a:xfrm>
              <a:off x="3931920" y="1896889"/>
              <a:ext cx="23317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 launch</a:t>
              </a:r>
              <a:endParaRPr lang="en-US" sz="2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63FC5942-EB2D-911F-C4D3-4113FEB4F335}"/>
                </a:ext>
              </a:extLst>
            </p:cNvPr>
            <p:cNvSpPr/>
            <p:nvPr/>
          </p:nvSpPr>
          <p:spPr>
            <a:xfrm>
              <a:off x="3931920" y="2262649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52B7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interactive CLI wizard</a:t>
              </a:r>
              <a:endParaRPr lang="en-US" sz="160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F28DF91A-C170-4118-4303-E56C92B7693D}"/>
                </a:ext>
              </a:extLst>
            </p:cNvPr>
            <p:cNvSpPr/>
            <p:nvPr/>
          </p:nvSpPr>
          <p:spPr>
            <a:xfrm>
              <a:off x="3749040" y="2628409"/>
              <a:ext cx="2697480" cy="242316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AAAEA76-ABC5-A44D-F23B-B7984F83514A}"/>
                </a:ext>
              </a:extLst>
            </p:cNvPr>
            <p:cNvSpPr/>
            <p:nvPr/>
          </p:nvSpPr>
          <p:spPr>
            <a:xfrm>
              <a:off x="3886200" y="2765569"/>
              <a:ext cx="2423160" cy="1280160"/>
            </a:xfrm>
            <a:prstGeom prst="rect">
              <a:avLst/>
            </a:prstGeom>
            <a:solidFill>
              <a:srgbClr val="0F1419"/>
            </a:solidFill>
            <a:ln w="12700">
              <a:solidFill>
                <a:srgbClr val="0F141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F7DFDD38-4A80-05CC-B5BB-231080E5CD9B}"/>
                </a:ext>
              </a:extLst>
            </p:cNvPr>
            <p:cNvSpPr/>
            <p:nvPr/>
          </p:nvSpPr>
          <p:spPr>
            <a:xfrm>
              <a:off x="4023360" y="2857009"/>
              <a:ext cx="21488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module load </a:t>
              </a:r>
              <a:r>
                <a:rPr lang="en-US" sz="14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</a:t>
              </a:r>
              <a:r>
                <a:rPr lang="en-US" sz="14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-core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nf-core pipelines launch \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4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rnaseq</a:t>
              </a:r>
              <a:r>
                <a:rPr lang="en-US" sz="14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-r 3.25.0</a:t>
              </a:r>
              <a:endParaRPr lang="en-US" sz="14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61820F85-6D3F-751C-A5D3-52180462BD5E}"/>
                </a:ext>
              </a:extLst>
            </p:cNvPr>
            <p:cNvSpPr/>
            <p:nvPr/>
          </p:nvSpPr>
          <p:spPr>
            <a:xfrm>
              <a:off x="3931920" y="4137169"/>
              <a:ext cx="23317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Prompts you through every parameter. Great for first-time use.</a:t>
              </a:r>
              <a:endParaRPr lang="en-US" dirty="0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7CDD0686-2EB8-3A0B-8BD0-63759E8E1EC3}"/>
                </a:ext>
              </a:extLst>
            </p:cNvPr>
            <p:cNvSpPr/>
            <p:nvPr/>
          </p:nvSpPr>
          <p:spPr>
            <a:xfrm>
              <a:off x="6583680" y="1805449"/>
              <a:ext cx="2697480" cy="822960"/>
            </a:xfrm>
            <a:prstGeom prst="rect">
              <a:avLst/>
            </a:prstGeom>
            <a:solidFill>
              <a:srgbClr val="0A4F4E"/>
            </a:solidFill>
            <a:ln w="12700">
              <a:solidFill>
                <a:srgbClr val="0A4F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33847AC3-26FA-7E66-2D1F-ACF4218A9F00}"/>
                </a:ext>
              </a:extLst>
            </p:cNvPr>
            <p:cNvSpPr/>
            <p:nvPr/>
          </p:nvSpPr>
          <p:spPr>
            <a:xfrm>
              <a:off x="6766560" y="1896889"/>
              <a:ext cx="23317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onsolas" pitchFamily="34" charset="0"/>
                  <a:cs typeface="Consolas" pitchFamily="34" charset="-120"/>
                </a:rPr>
                <a:t>Open</a:t>
              </a:r>
              <a:r>
                <a:rPr lang="en-US" sz="18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2400" b="1" dirty="0">
                  <a:solidFill>
                    <a:srgbClr val="FFFFFF"/>
                  </a:solidFill>
                  <a:latin typeface="Consolas" pitchFamily="34" charset="0"/>
                  <a:cs typeface="Consolas" pitchFamily="34" charset="-120"/>
                </a:rPr>
                <a:t>OnDemand</a:t>
              </a:r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61263A8B-026B-4D84-EE48-F6D2D984076B}"/>
                </a:ext>
              </a:extLst>
            </p:cNvPr>
            <p:cNvSpPr/>
            <p:nvPr/>
          </p:nvSpPr>
          <p:spPr>
            <a:xfrm>
              <a:off x="6766560" y="2262649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52B7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 UI (tufts specific)</a:t>
              </a:r>
              <a:endParaRPr lang="en-US" sz="1600" dirty="0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C2CBCF1D-C711-156E-125A-FDBC096A1988}"/>
                </a:ext>
              </a:extLst>
            </p:cNvPr>
            <p:cNvSpPr/>
            <p:nvPr/>
          </p:nvSpPr>
          <p:spPr>
            <a:xfrm>
              <a:off x="6583680" y="2628409"/>
              <a:ext cx="2697480" cy="242316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98EFF21A-1833-84BF-A61B-3C147BEC721D}"/>
                </a:ext>
              </a:extLst>
            </p:cNvPr>
            <p:cNvSpPr/>
            <p:nvPr/>
          </p:nvSpPr>
          <p:spPr>
            <a:xfrm>
              <a:off x="6858000" y="2857009"/>
              <a:ext cx="21488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Point &amp; click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cloud.seqera.io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(formerly Nextflow Tower)</a:t>
              </a:r>
              <a:endParaRPr lang="en-US" sz="9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26C0BFD3-2001-E1ED-D28E-D4846DA77485}"/>
                </a:ext>
              </a:extLst>
            </p:cNvPr>
            <p:cNvSpPr/>
            <p:nvPr/>
          </p:nvSpPr>
          <p:spPr>
            <a:xfrm>
              <a:off x="6723949" y="4796014"/>
              <a:ext cx="23317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GUI, monitoring, dashboards</a:t>
              </a:r>
              <a:endParaRPr lang="en-US" dirty="0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6B9535D3-AA9D-4C3E-ADF9-3E4A6284A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514" y="2843710"/>
            <a:ext cx="3181288" cy="267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31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F94005-2024-7A23-9829-E61A7AE4B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90" y="357095"/>
            <a:ext cx="9783340" cy="1144929"/>
          </a:xfrm>
        </p:spPr>
        <p:txBody>
          <a:bodyPr/>
          <a:lstStyle/>
          <a:p>
            <a:r>
              <a:rPr lang="en-US" dirty="0" err="1"/>
              <a:t>nf</a:t>
            </a:r>
            <a:r>
              <a:rPr lang="en-US" dirty="0"/>
              <a:t>-core/</a:t>
            </a:r>
            <a:r>
              <a:rPr lang="en-US" dirty="0" err="1"/>
              <a:t>rnaseq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7793288-F230-37DB-C436-D67F6FE46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0043738" cy="1660968"/>
          </a:xfrm>
        </p:spPr>
        <p:txBody>
          <a:bodyPr/>
          <a:lstStyle/>
          <a:p>
            <a:r>
              <a:rPr lang="en-US" dirty="0"/>
              <a:t>The most-used bulk RNA-seq pipeline in biology</a:t>
            </a:r>
          </a:p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F391EA-D225-244C-145A-FCE28DCDF752}"/>
              </a:ext>
            </a:extLst>
          </p:cNvPr>
          <p:cNvSpPr/>
          <p:nvPr/>
        </p:nvSpPr>
        <p:spPr>
          <a:xfrm>
            <a:off x="777240" y="172887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bulk 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pipeline</a:t>
            </a:r>
            <a:endParaRPr lang="en-US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6F720BB-B9BE-3558-83C8-C706EB90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" r="33191" b="6614"/>
          <a:stretch>
            <a:fillRect/>
          </a:stretch>
        </p:blipFill>
        <p:spPr>
          <a:xfrm>
            <a:off x="3550923" y="1728876"/>
            <a:ext cx="3931919" cy="4739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2F637-4351-72B9-9AFE-C206E969B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842" y="1787666"/>
            <a:ext cx="4709158" cy="267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67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01EEFD-8EA1-0EE7-83BC-2D68BE7F6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90" y="357095"/>
            <a:ext cx="4363718" cy="61863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samplesheet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302334D-996A-5BEC-3D5B-CBB3D0E08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8803247" cy="1660968"/>
          </a:xfrm>
        </p:spPr>
        <p:txBody>
          <a:bodyPr/>
          <a:lstStyle/>
          <a:p>
            <a:r>
              <a:rPr lang="en-US" dirty="0"/>
              <a:t>This one file tells the pipeline what to analyze</a:t>
            </a:r>
          </a:p>
          <a:p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47089B-AD04-8965-769B-74944BAC2DA2}"/>
              </a:ext>
            </a:extLst>
          </p:cNvPr>
          <p:cNvSpPr/>
          <p:nvPr/>
        </p:nvSpPr>
        <p:spPr>
          <a:xfrm>
            <a:off x="763793" y="1674127"/>
            <a:ext cx="11155680" cy="1971972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2630E5-7751-B800-7A65-E6D37056673A}"/>
              </a:ext>
            </a:extLst>
          </p:cNvPr>
          <p:cNvSpPr/>
          <p:nvPr/>
        </p:nvSpPr>
        <p:spPr>
          <a:xfrm>
            <a:off x="960385" y="1753549"/>
            <a:ext cx="11059399" cy="1971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sample,fastq_1,fastq_2,strandedness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CTRL_REP1,/scratch/$USER/data/ctrl_r1_R1.fq.gz,/scratch/$USER/data/ctrl_r1_R2.fq.gz,auto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CTRL_REP2,/scratch/$USER/data/ctrl_r2_R1.fq.gz,/scratch/$USER/data/ctrl_r2_R2.fq.gz,auto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CTRL_REP3,/scratch/$USER/data/ctrl_r3_R1.fq.gz,/scratch/$USER/data/ctrl_r3_R2.fq.gz,auto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TREAT_REP1,/scratch/$USER/data/treat_r1_R1.fq.gz,/scratch/$USER/data/treat_r1_R2.fq.gz,auto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TREAT_REP2,/scratch/$USER/data/treat_r2_R1.fq.gz,/scratch/$USER/data/treat_r2_R2.fq.gz,auto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TREAT_REP3,/scratch/$USER/data/treat_r3_R1.fq.gz,/scratch/$USER/data/treat_r3_R2.fq.gz,auto</a:t>
            </a:r>
            <a:endParaRPr lang="en-US" sz="1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6E4DCA1-EE3A-C9A6-68B9-3FC1049D4FE9}"/>
              </a:ext>
            </a:extLst>
          </p:cNvPr>
          <p:cNvGrpSpPr/>
          <p:nvPr/>
        </p:nvGrpSpPr>
        <p:grpSpPr>
          <a:xfrm>
            <a:off x="810410" y="3904811"/>
            <a:ext cx="11155679" cy="1813127"/>
            <a:chOff x="457200" y="3108960"/>
            <a:chExt cx="8366760" cy="137160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83D0A646-05CA-A3CD-7A09-0EF416AAA260}"/>
                </a:ext>
              </a:extLst>
            </p:cNvPr>
            <p:cNvSpPr/>
            <p:nvPr/>
          </p:nvSpPr>
          <p:spPr>
            <a:xfrm>
              <a:off x="457200" y="3108960"/>
              <a:ext cx="2697480" cy="137160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9CDF29D2-9B4E-4125-A8CC-48C64E1440CC}"/>
                </a:ext>
              </a:extLst>
            </p:cNvPr>
            <p:cNvSpPr/>
            <p:nvPr/>
          </p:nvSpPr>
          <p:spPr>
            <a:xfrm>
              <a:off x="457200" y="3108960"/>
              <a:ext cx="73152" cy="1371600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3D1187D-86EE-E6D5-6EBE-A8535AA91EB9}"/>
                </a:ext>
              </a:extLst>
            </p:cNvPr>
            <p:cNvSpPr/>
            <p:nvPr/>
          </p:nvSpPr>
          <p:spPr>
            <a:xfrm>
              <a:off x="640080" y="3200400"/>
              <a:ext cx="2423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sample</a:t>
              </a:r>
              <a:endParaRPr lang="en-US" sz="20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611B4B4-7434-F5AD-C601-BAF55B4F8ACC}"/>
                </a:ext>
              </a:extLst>
            </p:cNvPr>
            <p:cNvSpPr/>
            <p:nvPr/>
          </p:nvSpPr>
          <p:spPr>
            <a:xfrm>
              <a:off x="640080" y="3520440"/>
              <a:ext cx="24231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Free-form ID. Repeat the same ID if you have multiple lanes — they'll be merged.</a:t>
              </a:r>
              <a:endParaRPr lang="en-US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EA340F06-762B-AB35-8D5F-F61DA64B2354}"/>
                </a:ext>
              </a:extLst>
            </p:cNvPr>
            <p:cNvSpPr/>
            <p:nvPr/>
          </p:nvSpPr>
          <p:spPr>
            <a:xfrm>
              <a:off x="3291840" y="3108960"/>
              <a:ext cx="2697480" cy="137160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B0FD034F-CB12-56D5-D9A6-6B03F0E974EB}"/>
                </a:ext>
              </a:extLst>
            </p:cNvPr>
            <p:cNvSpPr/>
            <p:nvPr/>
          </p:nvSpPr>
          <p:spPr>
            <a:xfrm>
              <a:off x="3291840" y="3108960"/>
              <a:ext cx="73152" cy="1371600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639A07DA-0311-4D8F-406D-D0A6A46A74F8}"/>
                </a:ext>
              </a:extLst>
            </p:cNvPr>
            <p:cNvSpPr/>
            <p:nvPr/>
          </p:nvSpPr>
          <p:spPr>
            <a:xfrm>
              <a:off x="3474720" y="3200400"/>
              <a:ext cx="2423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fastq_1 / fastq_2</a:t>
              </a:r>
              <a:endParaRPr lang="en-US" sz="20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1799674D-9517-0A0A-E7D2-4A52712D0CA2}"/>
                </a:ext>
              </a:extLst>
            </p:cNvPr>
            <p:cNvSpPr/>
            <p:nvPr/>
          </p:nvSpPr>
          <p:spPr>
            <a:xfrm>
              <a:off x="3474720" y="3520440"/>
              <a:ext cx="24231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Absolute paths (or URLs) to R1 / R2 FASTQ files. Leave fastq_2 blank for single-end.</a:t>
              </a:r>
              <a:endParaRPr lang="en-US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A97FB4D8-45BE-8958-0E54-5ADD2A05CAD8}"/>
                </a:ext>
              </a:extLst>
            </p:cNvPr>
            <p:cNvSpPr/>
            <p:nvPr/>
          </p:nvSpPr>
          <p:spPr>
            <a:xfrm>
              <a:off x="6126480" y="3108960"/>
              <a:ext cx="2697480" cy="137160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0D7D88AE-9FFF-8E57-21BC-6AFD18E8534A}"/>
                </a:ext>
              </a:extLst>
            </p:cNvPr>
            <p:cNvSpPr/>
            <p:nvPr/>
          </p:nvSpPr>
          <p:spPr>
            <a:xfrm>
              <a:off x="6126480" y="3108960"/>
              <a:ext cx="73152" cy="1371600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3454CE2D-7C65-C6E9-3CF6-69A9B5339EA9}"/>
                </a:ext>
              </a:extLst>
            </p:cNvPr>
            <p:cNvSpPr/>
            <p:nvPr/>
          </p:nvSpPr>
          <p:spPr>
            <a:xfrm>
              <a:off x="6309360" y="3200400"/>
              <a:ext cx="2423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strandedness</a:t>
              </a:r>
              <a:endParaRPr lang="en-US" sz="20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614294C7-D34F-62BB-6CB0-2B0EC50E7F67}"/>
                </a:ext>
              </a:extLst>
            </p:cNvPr>
            <p:cNvSpPr/>
            <p:nvPr/>
          </p:nvSpPr>
          <p:spPr>
            <a:xfrm>
              <a:off x="6309360" y="3520440"/>
              <a:ext cx="24231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  (recommended) — or  forward  /  reverse  /  unstranded  if you know it.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31661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040406-6D19-0FBD-93C5-622CBFC9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816285" cy="1671227"/>
          </a:xfrm>
        </p:spPr>
        <p:txBody>
          <a:bodyPr/>
          <a:lstStyle/>
          <a:p>
            <a:r>
              <a:rPr lang="en-US" dirty="0"/>
              <a:t>The parameters you'll actually set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83B9A96-E7ED-A583-9233-B40A31E4B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0653562" cy="2021066"/>
          </a:xfrm>
        </p:spPr>
        <p:txBody>
          <a:bodyPr/>
          <a:lstStyle/>
          <a:p>
            <a:r>
              <a:rPr lang="en-US" dirty="0"/>
              <a:t>Full schema at  </a:t>
            </a:r>
            <a:r>
              <a:rPr lang="en-US" dirty="0" err="1"/>
              <a:t>nf-co.re</a:t>
            </a:r>
            <a:r>
              <a:rPr lang="en-US" dirty="0"/>
              <a:t>/</a:t>
            </a:r>
            <a:r>
              <a:rPr lang="en-US" dirty="0" err="1"/>
              <a:t>rnaseq</a:t>
            </a:r>
            <a:r>
              <a:rPr lang="en-US" dirty="0"/>
              <a:t>/parameters  — here are the essentials</a:t>
            </a:r>
          </a:p>
          <a:p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404941-BAA5-976C-D86F-A2BD4D91F62F}"/>
              </a:ext>
            </a:extLst>
          </p:cNvPr>
          <p:cNvGrpSpPr/>
          <p:nvPr/>
        </p:nvGrpSpPr>
        <p:grpSpPr>
          <a:xfrm>
            <a:off x="715384" y="1631201"/>
            <a:ext cx="9988475" cy="3894268"/>
            <a:chOff x="457200" y="1280160"/>
            <a:chExt cx="8229601" cy="3008376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D0526289-E433-AEE6-94F8-B9E0BBD6A2F6}"/>
                </a:ext>
              </a:extLst>
            </p:cNvPr>
            <p:cNvSpPr/>
            <p:nvPr/>
          </p:nvSpPr>
          <p:spPr>
            <a:xfrm>
              <a:off x="457200" y="1280160"/>
              <a:ext cx="8229600" cy="429768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15A0848C-1994-84CF-1E9D-0F7CDA637548}"/>
                </a:ext>
              </a:extLst>
            </p:cNvPr>
            <p:cNvSpPr/>
            <p:nvPr/>
          </p:nvSpPr>
          <p:spPr>
            <a:xfrm>
              <a:off x="457200" y="1280160"/>
              <a:ext cx="73152" cy="429768"/>
            </a:xfrm>
            <a:prstGeom prst="rect">
              <a:avLst/>
            </a:prstGeom>
            <a:solidFill>
              <a:srgbClr val="F4A261"/>
            </a:solidFill>
            <a:ln w="12700">
              <a:solidFill>
                <a:srgbClr val="F4A26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F81EB441-5453-C6E7-304D-9BD6095FE757}"/>
                </a:ext>
              </a:extLst>
            </p:cNvPr>
            <p:cNvSpPr/>
            <p:nvPr/>
          </p:nvSpPr>
          <p:spPr>
            <a:xfrm>
              <a:off x="640080" y="1280160"/>
              <a:ext cx="210312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--input</a:t>
              </a:r>
              <a:endParaRPr lang="en-US" sz="16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7B39D3A3-782A-3C43-5CE3-5813DD312DC4}"/>
                </a:ext>
              </a:extLst>
            </p:cNvPr>
            <p:cNvSpPr/>
            <p:nvPr/>
          </p:nvSpPr>
          <p:spPr>
            <a:xfrm>
              <a:off x="2788920" y="1280160"/>
              <a:ext cx="54864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Path to samplesheet.csv (above)</a:t>
              </a:r>
              <a:endParaRPr lang="en-US" sz="16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35C39B3-E549-0ED6-86D7-5325C8316A27}"/>
                </a:ext>
              </a:extLst>
            </p:cNvPr>
            <p:cNvSpPr/>
            <p:nvPr/>
          </p:nvSpPr>
          <p:spPr>
            <a:xfrm>
              <a:off x="7619989" y="1280160"/>
              <a:ext cx="1066811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i="1" dirty="0">
                  <a:solidFill>
                    <a:srgbClr val="F4A2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required</a:t>
              </a:r>
              <a:endParaRPr lang="en-US" sz="1600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C0876892-0B77-F5CA-78D9-39882BFA64BF}"/>
                </a:ext>
              </a:extLst>
            </p:cNvPr>
            <p:cNvSpPr/>
            <p:nvPr/>
          </p:nvSpPr>
          <p:spPr>
            <a:xfrm>
              <a:off x="457200" y="1709928"/>
              <a:ext cx="73152" cy="429768"/>
            </a:xfrm>
            <a:prstGeom prst="rect">
              <a:avLst/>
            </a:prstGeom>
            <a:solidFill>
              <a:srgbClr val="F4A261"/>
            </a:solidFill>
            <a:ln w="12700">
              <a:solidFill>
                <a:srgbClr val="F4A26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17E9162-B89F-027E-B416-A56159540DFF}"/>
                </a:ext>
              </a:extLst>
            </p:cNvPr>
            <p:cNvSpPr/>
            <p:nvPr/>
          </p:nvSpPr>
          <p:spPr>
            <a:xfrm>
              <a:off x="640080" y="1709928"/>
              <a:ext cx="210312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--outdir</a:t>
              </a:r>
              <a:endParaRPr lang="en-US" sz="16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8B9B65A2-EA43-F131-09C5-3C0C3758194E}"/>
                </a:ext>
              </a:extLst>
            </p:cNvPr>
            <p:cNvSpPr/>
            <p:nvPr/>
          </p:nvSpPr>
          <p:spPr>
            <a:xfrm>
              <a:off x="2788920" y="1709928"/>
              <a:ext cx="54864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Where results go</a:t>
              </a:r>
              <a:endParaRPr lang="en-US" sz="16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35D72415-009F-F45F-1427-D92BD8B8ED0E}"/>
                </a:ext>
              </a:extLst>
            </p:cNvPr>
            <p:cNvSpPr/>
            <p:nvPr/>
          </p:nvSpPr>
          <p:spPr>
            <a:xfrm>
              <a:off x="7574269" y="1709928"/>
              <a:ext cx="1112532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i="1" dirty="0">
                  <a:solidFill>
                    <a:srgbClr val="F4A2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required</a:t>
              </a:r>
              <a:endParaRPr lang="en-US" sz="160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CF42BF0F-EF7F-6B9C-D40C-DB397BCAAB70}"/>
                </a:ext>
              </a:extLst>
            </p:cNvPr>
            <p:cNvSpPr/>
            <p:nvPr/>
          </p:nvSpPr>
          <p:spPr>
            <a:xfrm>
              <a:off x="457200" y="2139696"/>
              <a:ext cx="8229600" cy="429768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D0D92A71-328F-1C70-BFDB-3F6D4C7F2781}"/>
                </a:ext>
              </a:extLst>
            </p:cNvPr>
            <p:cNvSpPr/>
            <p:nvPr/>
          </p:nvSpPr>
          <p:spPr>
            <a:xfrm>
              <a:off x="457200" y="2139696"/>
              <a:ext cx="75338" cy="429768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F4A261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rgbClr val="203749"/>
                </a:solidFill>
                <a:highlight>
                  <a:srgbClr val="000000"/>
                </a:highlight>
              </a:endParaRPr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BD0EA60D-FECA-B736-D38B-A15594DCD829}"/>
                </a:ext>
              </a:extLst>
            </p:cNvPr>
            <p:cNvSpPr/>
            <p:nvPr/>
          </p:nvSpPr>
          <p:spPr>
            <a:xfrm>
              <a:off x="640080" y="2139696"/>
              <a:ext cx="210312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--genome</a:t>
              </a:r>
              <a:endParaRPr lang="en-US" sz="16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A96B856D-3612-A20B-3AE9-A1E284246604}"/>
                </a:ext>
              </a:extLst>
            </p:cNvPr>
            <p:cNvSpPr/>
            <p:nvPr/>
          </p:nvSpPr>
          <p:spPr>
            <a:xfrm>
              <a:off x="2788920" y="2139696"/>
              <a:ext cx="54864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Reference shortcut ( GRCh38, GRCm39, …) — auto-downloads</a:t>
              </a:r>
              <a:endParaRPr lang="en-US" sz="16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AC97F287-52BD-85FD-3599-D9B9AA5FBC9C}"/>
                </a:ext>
              </a:extLst>
            </p:cNvPr>
            <p:cNvSpPr/>
            <p:nvPr/>
          </p:nvSpPr>
          <p:spPr>
            <a:xfrm>
              <a:off x="7805607" y="2139696"/>
              <a:ext cx="881194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i="1" dirty="0">
                  <a:solidFill>
                    <a:srgbClr val="20374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 not use</a:t>
              </a:r>
              <a:endParaRPr lang="en-US" sz="1600" dirty="0">
                <a:solidFill>
                  <a:srgbClr val="203749"/>
                </a:solidFill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EEBDB639-2D71-EDC9-B073-72AB3FD8AB89}"/>
                </a:ext>
              </a:extLst>
            </p:cNvPr>
            <p:cNvSpPr/>
            <p:nvPr/>
          </p:nvSpPr>
          <p:spPr>
            <a:xfrm>
              <a:off x="640080" y="2569464"/>
              <a:ext cx="210312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--fasta / --gtf</a:t>
              </a:r>
              <a:endParaRPr lang="en-US" sz="16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0E73371D-EBA7-E1F1-F7B7-A1FC17B8F03F}"/>
                </a:ext>
              </a:extLst>
            </p:cNvPr>
            <p:cNvSpPr/>
            <p:nvPr/>
          </p:nvSpPr>
          <p:spPr>
            <a:xfrm>
              <a:off x="2788920" y="2569464"/>
              <a:ext cx="54864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 your own reference FASTA + annotation — skip --genome</a:t>
              </a:r>
              <a:endParaRPr lang="en-US" sz="1600" dirty="0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5C9771E9-4C1A-55BE-5626-EC5061F1040C}"/>
                </a:ext>
              </a:extLst>
            </p:cNvPr>
            <p:cNvSpPr/>
            <p:nvPr/>
          </p:nvSpPr>
          <p:spPr>
            <a:xfrm>
              <a:off x="457200" y="2999232"/>
              <a:ext cx="8229600" cy="429768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B57A229C-9380-7359-0D94-A7FF61D089AD}"/>
                </a:ext>
              </a:extLst>
            </p:cNvPr>
            <p:cNvSpPr/>
            <p:nvPr/>
          </p:nvSpPr>
          <p:spPr>
            <a:xfrm>
              <a:off x="640080" y="2999232"/>
              <a:ext cx="210312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--aligner</a:t>
              </a:r>
              <a:endParaRPr lang="en-US" sz="16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15D67447-BF63-F7D2-42C2-5DA3B851B21D}"/>
                </a:ext>
              </a:extLst>
            </p:cNvPr>
            <p:cNvSpPr/>
            <p:nvPr/>
          </p:nvSpPr>
          <p:spPr>
            <a:xfrm>
              <a:off x="2788920" y="2999232"/>
              <a:ext cx="54864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star_salmon  (default)  |  star_rsem  |  hisat2  |  bowtie2_salmon</a:t>
              </a:r>
              <a:endParaRPr lang="en-US" sz="16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E317C596-56F8-C4A8-389C-19786F077210}"/>
                </a:ext>
              </a:extLst>
            </p:cNvPr>
            <p:cNvSpPr/>
            <p:nvPr/>
          </p:nvSpPr>
          <p:spPr>
            <a:xfrm>
              <a:off x="640080" y="3429000"/>
              <a:ext cx="210312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--skip_&lt;step&gt;</a:t>
              </a:r>
              <a:endParaRPr lang="en-US" sz="16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EBD3DF20-0FF9-E69F-AA83-6380BD14873C}"/>
                </a:ext>
              </a:extLst>
            </p:cNvPr>
            <p:cNvSpPr/>
            <p:nvPr/>
          </p:nvSpPr>
          <p:spPr>
            <a:xfrm>
              <a:off x="2788920" y="3429000"/>
              <a:ext cx="54864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e.g.  --skip_markduplicates  to speed up / save space</a:t>
              </a:r>
              <a:endParaRPr lang="en-US" sz="16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D85A5168-A671-47E4-E773-9944B0413202}"/>
                </a:ext>
              </a:extLst>
            </p:cNvPr>
            <p:cNvSpPr/>
            <p:nvPr/>
          </p:nvSpPr>
          <p:spPr>
            <a:xfrm>
              <a:off x="457200" y="3858768"/>
              <a:ext cx="8229600" cy="429768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6D8304F2-A5B6-A850-583E-D36BCA0586A6}"/>
                </a:ext>
              </a:extLst>
            </p:cNvPr>
            <p:cNvSpPr/>
            <p:nvPr/>
          </p:nvSpPr>
          <p:spPr>
            <a:xfrm>
              <a:off x="640080" y="3858768"/>
              <a:ext cx="210312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-profile</a:t>
              </a:r>
              <a:endParaRPr lang="en-US" sz="16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6735064D-265C-58A6-47E5-EB7769DBDC66}"/>
                </a:ext>
              </a:extLst>
            </p:cNvPr>
            <p:cNvSpPr/>
            <p:nvPr/>
          </p:nvSpPr>
          <p:spPr>
            <a:xfrm>
              <a:off x="2788920" y="3858768"/>
              <a:ext cx="5486400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Environment: test, singularity, tufts</a:t>
              </a:r>
              <a:endParaRPr lang="en-US" sz="1600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798C888-EA02-5EE1-9D6A-8159E9D29DC1}"/>
              </a:ext>
            </a:extLst>
          </p:cNvPr>
          <p:cNvSpPr txBox="1"/>
          <p:nvPr/>
        </p:nvSpPr>
        <p:spPr>
          <a:xfrm>
            <a:off x="804170" y="5632174"/>
            <a:ext cx="10089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--genome uses the genome annotations in </a:t>
            </a:r>
            <a:r>
              <a:rPr lang="en-US" i="1" dirty="0" err="1"/>
              <a:t>iGenomes</a:t>
            </a:r>
            <a:r>
              <a:rPr lang="en-US" i="1" dirty="0"/>
              <a:t>, which are extremely out of date. </a:t>
            </a:r>
            <a:r>
              <a:rPr lang="en-US" dirty="0"/>
              <a:t>For this reason, its use is not recommended.</a:t>
            </a:r>
          </a:p>
        </p:txBody>
      </p:sp>
    </p:spTree>
    <p:extLst>
      <p:ext uri="{BB962C8B-B14F-4D97-AF65-F5344CB8AC3E}">
        <p14:creationId xmlns:p14="http://schemas.microsoft.com/office/powerpoint/2010/main" val="3168492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9F0A67-51C8-7784-76CB-F499BFA8F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90" y="357095"/>
            <a:ext cx="7878506" cy="1671227"/>
          </a:xfrm>
        </p:spPr>
        <p:txBody>
          <a:bodyPr/>
          <a:lstStyle/>
          <a:p>
            <a:r>
              <a:rPr lang="en-US" dirty="0"/>
              <a:t>Putting it all together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639CF-43FD-7924-57B4-723AAF4D1C0E}"/>
              </a:ext>
            </a:extLst>
          </p:cNvPr>
          <p:cNvSpPr txBox="1"/>
          <p:nvPr/>
        </p:nvSpPr>
        <p:spPr>
          <a:xfrm>
            <a:off x="629390" y="100804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submits every step to SLURM</a:t>
            </a:r>
            <a:endParaRPr lang="en-US" sz="2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3F2716-E567-94F7-E5A3-790E5D822839}"/>
              </a:ext>
            </a:extLst>
          </p:cNvPr>
          <p:cNvGrpSpPr/>
          <p:nvPr/>
        </p:nvGrpSpPr>
        <p:grpSpPr>
          <a:xfrm>
            <a:off x="728958" y="1467214"/>
            <a:ext cx="10833652" cy="4524079"/>
            <a:chOff x="457200" y="1325880"/>
            <a:chExt cx="8458200" cy="3337561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66E2ECD4-DE1A-FEDB-7CA8-A498DCCC6724}"/>
                </a:ext>
              </a:extLst>
            </p:cNvPr>
            <p:cNvSpPr/>
            <p:nvPr/>
          </p:nvSpPr>
          <p:spPr>
            <a:xfrm>
              <a:off x="457200" y="1413869"/>
              <a:ext cx="5212080" cy="2544500"/>
            </a:xfrm>
            <a:prstGeom prst="rect">
              <a:avLst/>
            </a:prstGeom>
            <a:solidFill>
              <a:srgbClr val="0F1419"/>
            </a:solidFill>
            <a:ln w="12700">
              <a:solidFill>
                <a:srgbClr val="0F141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CDB7C9FC-C243-3364-B336-567B11B35E25}"/>
                </a:ext>
              </a:extLst>
            </p:cNvPr>
            <p:cNvSpPr/>
            <p:nvPr/>
          </p:nvSpPr>
          <p:spPr>
            <a:xfrm>
              <a:off x="594360" y="1575900"/>
              <a:ext cx="4937760" cy="1837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## -profile tufts can also be used</a:t>
              </a:r>
            </a:p>
            <a:p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nextflow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run 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nf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-core/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rnaseq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\</a:t>
              </a:r>
            </a:p>
            <a:p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-profile    singularity \</a:t>
              </a:r>
            </a:p>
            <a:p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--input     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samplesheet.csv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\</a:t>
              </a:r>
            </a:p>
            <a:p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--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outdir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results_rnaseq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\</a:t>
              </a:r>
            </a:p>
            <a:p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--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fasta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genome.fa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\</a:t>
              </a:r>
            </a:p>
            <a:p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--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gtf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genes.gtf</a:t>
              </a:r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\</a:t>
              </a:r>
            </a:p>
            <a:p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--aligner   </a:t>
              </a:r>
              <a:r>
                <a:rPr lang="en-US" sz="2200" dirty="0" err="1">
                  <a:solidFill>
                    <a:srgbClr val="E8F3F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star_salmon</a:t>
              </a:r>
              <a:endParaRPr lang="en-US" sz="220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sz="2200" dirty="0">
                  <a:solidFill>
                    <a:srgbClr val="E8F3F1"/>
                  </a:solidFill>
                  <a:latin typeface="Consolas" pitchFamily="34" charset="0"/>
                  <a:cs typeface="Consolas" pitchFamily="34" charset="-120"/>
                </a:rPr>
                <a:t>    -resume</a:t>
              </a:r>
              <a:endParaRPr lang="en-US" sz="2200" dirty="0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4FFD6B68-CB0D-A0A3-15F3-9BE6ED27FACF}"/>
                </a:ext>
              </a:extLst>
            </p:cNvPr>
            <p:cNvSpPr/>
            <p:nvPr/>
          </p:nvSpPr>
          <p:spPr>
            <a:xfrm>
              <a:off x="5943600" y="1325880"/>
              <a:ext cx="45720" cy="475488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2D57E055-F1DD-177D-BAC3-4FD6CF62681C}"/>
                </a:ext>
              </a:extLst>
            </p:cNvPr>
            <p:cNvSpPr/>
            <p:nvPr/>
          </p:nvSpPr>
          <p:spPr>
            <a:xfrm>
              <a:off x="6080760" y="1325880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-profile singularity</a:t>
              </a:r>
              <a:endParaRPr lang="en-US" sz="16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D10F235E-DF3D-A956-0CB8-942466E79F86}"/>
                </a:ext>
              </a:extLst>
            </p:cNvPr>
            <p:cNvSpPr/>
            <p:nvPr/>
          </p:nvSpPr>
          <p:spPr>
            <a:xfrm>
              <a:off x="6080760" y="155448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containers (reproducibility)</a:t>
              </a:r>
              <a:endParaRPr lang="en-US" sz="1400" dirty="0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827D4BA7-BD65-F82E-87FD-E8FFB1361CBE}"/>
                </a:ext>
              </a:extLst>
            </p:cNvPr>
            <p:cNvSpPr/>
            <p:nvPr/>
          </p:nvSpPr>
          <p:spPr>
            <a:xfrm>
              <a:off x="5943600" y="1892808"/>
              <a:ext cx="45720" cy="475488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9B0EAD2B-3A9C-BB54-67A6-E8A751A6300B}"/>
                </a:ext>
              </a:extLst>
            </p:cNvPr>
            <p:cNvSpPr/>
            <p:nvPr/>
          </p:nvSpPr>
          <p:spPr>
            <a:xfrm>
              <a:off x="6080760" y="1892808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-profile tufts</a:t>
              </a:r>
              <a:endParaRPr lang="en-US" sz="1600" dirty="0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B6B3F48A-0831-C4E0-085A-31C88768D7CD}"/>
                </a:ext>
              </a:extLst>
            </p:cNvPr>
            <p:cNvSpPr/>
            <p:nvPr/>
          </p:nvSpPr>
          <p:spPr>
            <a:xfrm>
              <a:off x="6080760" y="2121408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profile designed for tufts </a:t>
              </a:r>
              <a:r>
                <a:rPr lang="en-US" sz="1400" dirty="0" err="1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hpc</a:t>
              </a:r>
              <a:endParaRPr lang="en-US" sz="1400" dirty="0"/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F719AA53-E38D-CA92-4BBB-CE3B31E1284A}"/>
                </a:ext>
              </a:extLst>
            </p:cNvPr>
            <p:cNvSpPr/>
            <p:nvPr/>
          </p:nvSpPr>
          <p:spPr>
            <a:xfrm>
              <a:off x="5943600" y="2459736"/>
              <a:ext cx="45720" cy="475488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4311E902-F1D3-1B89-C754-7754E6097B2E}"/>
                </a:ext>
              </a:extLst>
            </p:cNvPr>
            <p:cNvSpPr/>
            <p:nvPr/>
          </p:nvSpPr>
          <p:spPr>
            <a:xfrm>
              <a:off x="6080760" y="2459736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</a:t>
              </a:r>
              <a:r>
                <a:rPr lang="en-US" sz="1600" b="1" dirty="0" err="1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fasta</a:t>
              </a: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b="1" dirty="0" err="1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genome.fa</a:t>
              </a:r>
              <a:endParaRPr lang="en-US" sz="1600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43238860-9FCD-1891-C63F-C0094D11A15F}"/>
                </a:ext>
              </a:extLst>
            </p:cNvPr>
            <p:cNvSpPr/>
            <p:nvPr/>
          </p:nvSpPr>
          <p:spPr>
            <a:xfrm>
              <a:off x="6080760" y="2688336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genome sequence in </a:t>
              </a:r>
              <a:r>
                <a:rPr lang="en-US" sz="1400" dirty="0" err="1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fasta</a:t>
              </a: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 format</a:t>
              </a:r>
              <a:endParaRPr lang="en-US" sz="1400" dirty="0"/>
            </a:p>
          </p:txBody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DE16DE9B-A535-F2A3-B9CF-BFF51087E1E8}"/>
                </a:ext>
              </a:extLst>
            </p:cNvPr>
            <p:cNvSpPr/>
            <p:nvPr/>
          </p:nvSpPr>
          <p:spPr>
            <a:xfrm>
              <a:off x="5943600" y="3026664"/>
              <a:ext cx="45720" cy="475488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751FC901-C71E-EA9A-5CE2-4AB82C8CDB23}"/>
                </a:ext>
              </a:extLst>
            </p:cNvPr>
            <p:cNvSpPr/>
            <p:nvPr/>
          </p:nvSpPr>
          <p:spPr>
            <a:xfrm>
              <a:off x="6080760" y="3026664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</a:t>
              </a:r>
              <a:r>
                <a:rPr lang="en-US" sz="1600" b="1" dirty="0" err="1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gtf</a:t>
              </a:r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b="1" dirty="0" err="1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genes.gtf</a:t>
              </a:r>
              <a:endParaRPr lang="en-US" sz="1600" dirty="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602267BB-4A1A-9F59-47A1-AD3CB2D1B5F1}"/>
                </a:ext>
              </a:extLst>
            </p:cNvPr>
            <p:cNvSpPr/>
            <p:nvPr/>
          </p:nvSpPr>
          <p:spPr>
            <a:xfrm>
              <a:off x="6080760" y="3255264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genome annotation in </a:t>
              </a:r>
              <a:r>
                <a:rPr lang="en-US" sz="1400" dirty="0" err="1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gtf</a:t>
              </a: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 format</a:t>
              </a:r>
              <a:endParaRPr lang="en-US" sz="1400" dirty="0"/>
            </a:p>
          </p:txBody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AE4490C4-58CD-4775-DA1B-5FF66BA76A53}"/>
                </a:ext>
              </a:extLst>
            </p:cNvPr>
            <p:cNvSpPr/>
            <p:nvPr/>
          </p:nvSpPr>
          <p:spPr>
            <a:xfrm>
              <a:off x="5943600" y="3593592"/>
              <a:ext cx="45720" cy="475488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7E7F5512-8CF1-7C77-EE25-F21F6F5E7E5F}"/>
                </a:ext>
              </a:extLst>
            </p:cNvPr>
            <p:cNvSpPr/>
            <p:nvPr/>
          </p:nvSpPr>
          <p:spPr>
            <a:xfrm>
              <a:off x="6080760" y="3593592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A4F4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-resume</a:t>
              </a:r>
              <a:endParaRPr lang="en-US" sz="1600" dirty="0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1F4019B9-B702-CD80-9E07-57F14AAD3FBF}"/>
                </a:ext>
              </a:extLst>
            </p:cNvPr>
            <p:cNvSpPr/>
            <p:nvPr/>
          </p:nvSpPr>
          <p:spPr>
            <a:xfrm>
              <a:off x="6080760" y="3822192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6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skip cached tasks on re-run</a:t>
              </a:r>
              <a:endParaRPr lang="en-US" sz="1600" dirty="0"/>
            </a:p>
          </p:txBody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2BD37087-EFD6-7F75-4179-6B06456F14EA}"/>
                </a:ext>
              </a:extLst>
            </p:cNvPr>
            <p:cNvSpPr/>
            <p:nvPr/>
          </p:nvSpPr>
          <p:spPr>
            <a:xfrm>
              <a:off x="532631" y="4353434"/>
              <a:ext cx="8229600" cy="310007"/>
            </a:xfrm>
            <a:prstGeom prst="rect">
              <a:avLst/>
            </a:prstGeom>
            <a:solidFill>
              <a:srgbClr val="0A4F4E"/>
            </a:solidFill>
            <a:ln w="12700">
              <a:solidFill>
                <a:srgbClr val="0A4F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A4B456FD-A216-BF6D-DC92-FBB82A0F8E27}"/>
                </a:ext>
              </a:extLst>
            </p:cNvPr>
            <p:cNvSpPr/>
            <p:nvPr/>
          </p:nvSpPr>
          <p:spPr>
            <a:xfrm>
              <a:off x="457200" y="4251960"/>
              <a:ext cx="8229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 real runs: wrap this in a small  </a:t>
              </a:r>
              <a:r>
                <a:rPr lang="en-US" sz="1600" i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sbatch</a:t>
              </a:r>
              <a:r>
                <a:rPr lang="en-US" sz="16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script. Don't run long pipelines on a login node.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02781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CA658A-861F-B53E-EA6E-C0A8D75DD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89" y="357095"/>
            <a:ext cx="9495271" cy="219752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MultiQC</a:t>
            </a:r>
            <a:r>
              <a:rPr lang="en-US" dirty="0"/>
              <a:t> report  ·  your first stop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159AFF6-090B-4D2D-B619-6F25E9BE8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52" y="957182"/>
            <a:ext cx="10710157" cy="1172629"/>
          </a:xfrm>
        </p:spPr>
        <p:txBody>
          <a:bodyPr/>
          <a:lstStyle/>
          <a:p>
            <a:r>
              <a:rPr lang="en-US" dirty="0"/>
              <a:t>One HTML file, every QC metric. Open it locally in a browser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7E66B8-8E13-E377-9F26-F405C92CA106}"/>
              </a:ext>
            </a:extLst>
          </p:cNvPr>
          <p:cNvGrpSpPr/>
          <p:nvPr/>
        </p:nvGrpSpPr>
        <p:grpSpPr>
          <a:xfrm>
            <a:off x="345582" y="1617559"/>
            <a:ext cx="6662020" cy="3844714"/>
            <a:chOff x="457199" y="1914940"/>
            <a:chExt cx="6361448" cy="2753298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EE07CCA7-C4E6-2C83-3F32-6294CAEBC307}"/>
                </a:ext>
              </a:extLst>
            </p:cNvPr>
            <p:cNvSpPr/>
            <p:nvPr/>
          </p:nvSpPr>
          <p:spPr>
            <a:xfrm>
              <a:off x="457199" y="1914940"/>
              <a:ext cx="3086247" cy="1251384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86612D78-C037-DADF-FE75-4215A5B40E5F}"/>
                </a:ext>
              </a:extLst>
            </p:cNvPr>
            <p:cNvSpPr/>
            <p:nvPr/>
          </p:nvSpPr>
          <p:spPr>
            <a:xfrm>
              <a:off x="457199" y="1914940"/>
              <a:ext cx="100775" cy="1251384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C938C0F-BDF3-1B82-EF11-A491D19F613D}"/>
                </a:ext>
              </a:extLst>
            </p:cNvPr>
            <p:cNvSpPr/>
            <p:nvPr/>
          </p:nvSpPr>
          <p:spPr>
            <a:xfrm>
              <a:off x="709138" y="2040077"/>
              <a:ext cx="2771324" cy="375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General Statistics</a:t>
              </a:r>
              <a:endParaRPr lang="en-US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9AAC571B-468E-72E8-C16D-ABB9C6BC0179}"/>
                </a:ext>
              </a:extLst>
            </p:cNvPr>
            <p:cNvSpPr/>
            <p:nvPr/>
          </p:nvSpPr>
          <p:spPr>
            <a:xfrm>
              <a:off x="709138" y="2415488"/>
              <a:ext cx="2771324" cy="750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Per-sample table — %Dups, %GC, M reads, % aligned, M assigned.</a:t>
              </a:r>
              <a:endParaRPr lang="en-US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352AB0DD-7BDA-AA61-DB6D-EA22687F5BBB}"/>
                </a:ext>
              </a:extLst>
            </p:cNvPr>
            <p:cNvSpPr/>
            <p:nvPr/>
          </p:nvSpPr>
          <p:spPr>
            <a:xfrm>
              <a:off x="3732400" y="1914940"/>
              <a:ext cx="3086247" cy="1251384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BA47A8AD-E3BB-ACB7-FE13-D3EA71A308C4}"/>
                </a:ext>
              </a:extLst>
            </p:cNvPr>
            <p:cNvSpPr/>
            <p:nvPr/>
          </p:nvSpPr>
          <p:spPr>
            <a:xfrm>
              <a:off x="3732400" y="1914940"/>
              <a:ext cx="100775" cy="1251384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985A9BCE-7C94-ECD0-E585-950BC62EAA49}"/>
                </a:ext>
              </a:extLst>
            </p:cNvPr>
            <p:cNvSpPr/>
            <p:nvPr/>
          </p:nvSpPr>
          <p:spPr>
            <a:xfrm>
              <a:off x="3984339" y="2040077"/>
              <a:ext cx="2771324" cy="375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FastQC</a:t>
              </a:r>
              <a:endParaRPr lang="en-US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6AA4AA78-B304-C3F3-4A0D-D766C8163639}"/>
                </a:ext>
              </a:extLst>
            </p:cNvPr>
            <p:cNvSpPr/>
            <p:nvPr/>
          </p:nvSpPr>
          <p:spPr>
            <a:xfrm>
              <a:off x="3984339" y="2415488"/>
              <a:ext cx="2771324" cy="750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Per-base quality, adapter content, duplication, overrepresented sequences.</a:t>
              </a:r>
              <a:endParaRPr lang="en-US" dirty="0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D601485E-E945-8038-61B8-6DCF4C7EB028}"/>
                </a:ext>
              </a:extLst>
            </p:cNvPr>
            <p:cNvSpPr/>
            <p:nvPr/>
          </p:nvSpPr>
          <p:spPr>
            <a:xfrm>
              <a:off x="457199" y="3354034"/>
              <a:ext cx="3086247" cy="1251384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929CE024-1E7D-A953-E08B-6FB837B6C7B5}"/>
                </a:ext>
              </a:extLst>
            </p:cNvPr>
            <p:cNvSpPr/>
            <p:nvPr/>
          </p:nvSpPr>
          <p:spPr>
            <a:xfrm>
              <a:off x="457199" y="3354034"/>
              <a:ext cx="100775" cy="1251384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BC0F82EE-833D-9ADF-9F64-198EB2282701}"/>
                </a:ext>
              </a:extLst>
            </p:cNvPr>
            <p:cNvSpPr/>
            <p:nvPr/>
          </p:nvSpPr>
          <p:spPr>
            <a:xfrm>
              <a:off x="709138" y="3479171"/>
              <a:ext cx="2771324" cy="375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 alignment</a:t>
              </a:r>
              <a:endParaRPr lang="en-US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0A66475D-3CC9-4B28-DCAD-8A15EDE97EFA}"/>
                </a:ext>
              </a:extLst>
            </p:cNvPr>
            <p:cNvSpPr/>
            <p:nvPr/>
          </p:nvSpPr>
          <p:spPr>
            <a:xfrm>
              <a:off x="709138" y="3917408"/>
              <a:ext cx="2771324" cy="750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Uniquely-mapped %, </a:t>
              </a:r>
            </a:p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multi-mapped, unmapped, mismatch rate.</a:t>
              </a:r>
              <a:endParaRPr lang="en-US" dirty="0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04117570-BFA9-1CFF-DE03-B7B9DC239633}"/>
                </a:ext>
              </a:extLst>
            </p:cNvPr>
            <p:cNvSpPr/>
            <p:nvPr/>
          </p:nvSpPr>
          <p:spPr>
            <a:xfrm>
              <a:off x="3732400" y="3354034"/>
              <a:ext cx="3086247" cy="1251384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780AD2BC-8CD3-392B-DBC4-1EB6C1022E95}"/>
                </a:ext>
              </a:extLst>
            </p:cNvPr>
            <p:cNvSpPr/>
            <p:nvPr/>
          </p:nvSpPr>
          <p:spPr>
            <a:xfrm>
              <a:off x="3732400" y="3354034"/>
              <a:ext cx="100775" cy="1251384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F9A3C127-FC60-7824-6851-599ED53D96B0}"/>
                </a:ext>
              </a:extLst>
            </p:cNvPr>
            <p:cNvSpPr/>
            <p:nvPr/>
          </p:nvSpPr>
          <p:spPr>
            <a:xfrm>
              <a:off x="3984339" y="3479171"/>
              <a:ext cx="2771324" cy="375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A4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Salmon / Qualimap</a:t>
              </a:r>
              <a:endParaRPr lang="en-US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6D101B70-A405-D1D0-330B-4DC8BC6342EE}"/>
                </a:ext>
              </a:extLst>
            </p:cNvPr>
            <p:cNvSpPr/>
            <p:nvPr/>
          </p:nvSpPr>
          <p:spPr>
            <a:xfrm>
              <a:off x="3984339" y="3854582"/>
              <a:ext cx="2771324" cy="750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Quantification summary, gene body coverage, rRNA fraction.</a:t>
              </a:r>
              <a:endParaRPr lang="en-US" dirty="0"/>
            </a:p>
          </p:txBody>
        </p:sp>
      </p:grpSp>
      <p:sp>
        <p:nvSpPr>
          <p:cNvPr id="21" name="Shape 19">
            <a:extLst>
              <a:ext uri="{FF2B5EF4-FFF2-40B4-BE49-F238E27FC236}">
                <a16:creationId xmlns:a16="http://schemas.microsoft.com/office/drawing/2014/main" id="{948EAE69-266B-A116-FDD8-FE18772724FF}"/>
              </a:ext>
            </a:extLst>
          </p:cNvPr>
          <p:cNvSpPr/>
          <p:nvPr/>
        </p:nvSpPr>
        <p:spPr>
          <a:xfrm>
            <a:off x="7133570" y="1467120"/>
            <a:ext cx="4660863" cy="4112045"/>
          </a:xfrm>
          <a:prstGeom prst="rect">
            <a:avLst/>
          </a:prstGeom>
          <a:solidFill>
            <a:srgbClr val="0A4F4E"/>
          </a:solidFill>
          <a:ln w="12700">
            <a:solidFill>
              <a:srgbClr val="0A4F4E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66D752D-A19A-E7B4-BC51-922EAB0C93BC}"/>
              </a:ext>
            </a:extLst>
          </p:cNvPr>
          <p:cNvSpPr/>
          <p:nvPr/>
        </p:nvSpPr>
        <p:spPr>
          <a:xfrm>
            <a:off x="7385509" y="1559307"/>
            <a:ext cx="4156986" cy="500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look for</a:t>
            </a:r>
            <a:endParaRPr lang="en-US" sz="2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9DA3D4C-B5CC-82A3-C2A0-2A6329CA0D40}"/>
              </a:ext>
            </a:extLst>
          </p:cNvPr>
          <p:cNvSpPr/>
          <p:nvPr/>
        </p:nvSpPr>
        <p:spPr>
          <a:xfrm>
            <a:off x="7385509" y="2059860"/>
            <a:ext cx="629846" cy="3754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EFD91EE-704B-80C1-E4FF-248EF61529A0}"/>
              </a:ext>
            </a:extLst>
          </p:cNvPr>
          <p:cNvSpPr/>
          <p:nvPr/>
        </p:nvSpPr>
        <p:spPr>
          <a:xfrm>
            <a:off x="7385509" y="2435275"/>
            <a:ext cx="37790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0EBB7AE-7C65-C1CE-02EA-87C2BC06EC4C}"/>
              </a:ext>
            </a:extLst>
          </p:cNvPr>
          <p:cNvSpPr/>
          <p:nvPr/>
        </p:nvSpPr>
        <p:spPr>
          <a:xfrm>
            <a:off x="7763417" y="2435275"/>
            <a:ext cx="377907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70% unique alignment rate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7CFC50C-91F2-E920-A0F0-9BD44EF82B64}"/>
              </a:ext>
            </a:extLst>
          </p:cNvPr>
          <p:cNvSpPr/>
          <p:nvPr/>
        </p:nvSpPr>
        <p:spPr>
          <a:xfrm>
            <a:off x="7385509" y="2935829"/>
            <a:ext cx="37790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6C8D613-9F07-F598-831F-2C1821ABE674}"/>
              </a:ext>
            </a:extLst>
          </p:cNvPr>
          <p:cNvSpPr/>
          <p:nvPr/>
        </p:nvSpPr>
        <p:spPr>
          <a:xfrm>
            <a:off x="7763417" y="2935829"/>
            <a:ext cx="377907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rRNA % (&gt; 10% for polyA-seq)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486BE75-729E-6839-4676-19C9C40686F0}"/>
              </a:ext>
            </a:extLst>
          </p:cNvPr>
          <p:cNvSpPr/>
          <p:nvPr/>
        </p:nvSpPr>
        <p:spPr>
          <a:xfrm>
            <a:off x="7385509" y="3436382"/>
            <a:ext cx="37790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EDF76C9-6CCA-F1EC-9EE2-DE9884339A42}"/>
              </a:ext>
            </a:extLst>
          </p:cNvPr>
          <p:cNvSpPr/>
          <p:nvPr/>
        </p:nvSpPr>
        <p:spPr>
          <a:xfrm>
            <a:off x="7763417" y="3436382"/>
            <a:ext cx="377907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uneven read counts per sample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890FC1-5595-E04B-B011-54001389B6DB}"/>
              </a:ext>
            </a:extLst>
          </p:cNvPr>
          <p:cNvSpPr/>
          <p:nvPr/>
        </p:nvSpPr>
        <p:spPr>
          <a:xfrm>
            <a:off x="7385509" y="3936936"/>
            <a:ext cx="37790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08440D3-EC2C-42E6-6A1E-CF9D709E62B6}"/>
              </a:ext>
            </a:extLst>
          </p:cNvPr>
          <p:cNvSpPr/>
          <p:nvPr/>
        </p:nvSpPr>
        <p:spPr>
          <a:xfrm>
            <a:off x="7763417" y="3936936"/>
            <a:ext cx="377907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adapter contamination post-trim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19FB4AA-DF4B-E00F-2FB9-B89C6F284D19}"/>
              </a:ext>
            </a:extLst>
          </p:cNvPr>
          <p:cNvSpPr/>
          <p:nvPr/>
        </p:nvSpPr>
        <p:spPr>
          <a:xfrm>
            <a:off x="7385509" y="4437489"/>
            <a:ext cx="37790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8CF660A-8EB5-D5F3-9F45-9833A0AFFD47}"/>
              </a:ext>
            </a:extLst>
          </p:cNvPr>
          <p:cNvSpPr/>
          <p:nvPr/>
        </p:nvSpPr>
        <p:spPr>
          <a:xfrm>
            <a:off x="7763417" y="4437489"/>
            <a:ext cx="377907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5'/3' coverage bias (RNA degradation)</a:t>
            </a:r>
            <a:endParaRPr lang="en-US" sz="16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D12EF7A-D4DA-AB82-5F0E-17B422599F01}"/>
              </a:ext>
            </a:extLst>
          </p:cNvPr>
          <p:cNvSpPr/>
          <p:nvPr/>
        </p:nvSpPr>
        <p:spPr>
          <a:xfrm>
            <a:off x="7385509" y="4938043"/>
            <a:ext cx="37790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9CDFFD6-57F1-30AF-A27C-EF696B65EEED}"/>
              </a:ext>
            </a:extLst>
          </p:cNvPr>
          <p:cNvSpPr/>
          <p:nvPr/>
        </p:nvSpPr>
        <p:spPr>
          <a:xfrm>
            <a:off x="7763417" y="4938043"/>
            <a:ext cx="3779078" cy="37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strandedness inference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20541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5E14B-B8C1-00B2-091E-A60B9106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12A586-125B-FA79-AAE4-56789FCD1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27594"/>
            <a:ext cx="10277889" cy="757130"/>
          </a:xfrm>
        </p:spPr>
        <p:txBody>
          <a:bodyPr/>
          <a:lstStyle/>
          <a:p>
            <a:r>
              <a:rPr lang="en-US" sz="4800" dirty="0" err="1"/>
              <a:t>rnaseq</a:t>
            </a:r>
            <a:r>
              <a:rPr lang="en-US" sz="4800" dirty="0"/>
              <a:t> in a browser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461810DB-D854-D6A8-4B70-798EA21EEC12}"/>
              </a:ext>
            </a:extLst>
          </p:cNvPr>
          <p:cNvSpPr/>
          <p:nvPr/>
        </p:nvSpPr>
        <p:spPr>
          <a:xfrm>
            <a:off x="457200" y="365760"/>
            <a:ext cx="216027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pPr algn="ctr"/>
            <a:r>
              <a:rPr lang="en-US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936F0FB-0A8E-5FE4-BFF1-BCAAB094A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835078"/>
            <a:ext cx="10621617" cy="1660968"/>
          </a:xfrm>
        </p:spPr>
        <p:txBody>
          <a:bodyPr/>
          <a:lstStyle/>
          <a:p>
            <a:r>
              <a:rPr lang="en-US" dirty="0"/>
              <a:t>Same pipeline. Same SLURM. Zero terminal.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F4189-38E7-CE89-FF27-A34069F5241D}"/>
              </a:ext>
            </a:extLst>
          </p:cNvPr>
          <p:cNvSpPr txBox="1"/>
          <p:nvPr/>
        </p:nvSpPr>
        <p:spPr>
          <a:xfrm>
            <a:off x="2807789" y="59304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</a:t>
            </a:r>
            <a:r>
              <a:rPr lang="en-US" sz="2400" dirty="0" err="1">
                <a:hlinkClick r:id="rId3"/>
              </a:rPr>
              <a:t>ondemand-prod.pax.tufts.edu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924EA0-0D79-450D-43DA-15C0008D1E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14" b="4360"/>
          <a:stretch>
            <a:fillRect/>
          </a:stretch>
        </p:blipFill>
        <p:spPr>
          <a:xfrm>
            <a:off x="1113183" y="2298700"/>
            <a:ext cx="7772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58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BC0ABF-CFED-B6BA-0675-78CC36999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90" y="357095"/>
            <a:ext cx="7697192" cy="1421928"/>
          </a:xfrm>
        </p:spPr>
        <p:txBody>
          <a:bodyPr/>
          <a:lstStyle/>
          <a:p>
            <a:r>
              <a:rPr lang="en-US" sz="4800" dirty="0"/>
              <a:t>Data used in Demo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474B2-398D-4384-BB23-9C943DC3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3" r="1375"/>
          <a:stretch>
            <a:fillRect/>
          </a:stretch>
        </p:blipFill>
        <p:spPr>
          <a:xfrm>
            <a:off x="0" y="1476006"/>
            <a:ext cx="6428510" cy="2936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A09CDA-A28E-B64D-FBD0-8CBB0614A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199" y="4210281"/>
            <a:ext cx="6713801" cy="28146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1A4765-9C35-67A9-64E3-C4D88FC59140}"/>
              </a:ext>
            </a:extLst>
          </p:cNvPr>
          <p:cNvSpPr txBox="1"/>
          <p:nvPr/>
        </p:nvSpPr>
        <p:spPr>
          <a:xfrm>
            <a:off x="782782" y="5488815"/>
            <a:ext cx="486294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SRR11994167- SRR11994181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71086"/>
      </p:ext>
    </p:extLst>
  </p:cSld>
  <p:clrMapOvr>
    <a:masterClrMapping/>
  </p:clrMapOvr>
</p:sld>
</file>

<file path=ppt/theme/theme1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C9C41F272B604C8CC53D5F0D66DDC0" ma:contentTypeVersion="18" ma:contentTypeDescription="Create a new document." ma:contentTypeScope="" ma:versionID="f8113db4f5a8da995389a58735b55208">
  <xsd:schema xmlns:xsd="http://www.w3.org/2001/XMLSchema" xmlns:xs="http://www.w3.org/2001/XMLSchema" xmlns:p="http://schemas.microsoft.com/office/2006/metadata/properties" xmlns:ns2="607792bb-7e5d-42d7-b537-aadbed1bbc98" xmlns:ns3="54635187-68af-4f5f-8683-6ebd35fc842e" targetNamespace="http://schemas.microsoft.com/office/2006/metadata/properties" ma:root="true" ma:fieldsID="e070f0f1080cdda18e1190d655c75c10" ns2:_="" ns3:_="">
    <xsd:import namespace="607792bb-7e5d-42d7-b537-aadbed1bbc98"/>
    <xsd:import namespace="54635187-68af-4f5f-8683-6ebd35fc84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7792bb-7e5d-42d7-b537-aadbed1bbc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9dfb89d-109d-4eca-b661-b7c8ffd4a8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35187-68af-4f5f-8683-6ebd35fc842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58fec68-bcb4-4d15-9920-f008f4a63a1c}" ma:internalName="TaxCatchAll" ma:showField="CatchAllData" ma:web="54635187-68af-4f5f-8683-6ebd35fc84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4635187-68af-4f5f-8683-6ebd35fc842e" xsi:nil="true"/>
    <lcf76f155ced4ddcb4097134ff3c332f xmlns="607792bb-7e5d-42d7-b537-aadbed1bbc9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CCE7F9-A01E-4F94-B05B-A5612F9DD4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7792bb-7e5d-42d7-b537-aadbed1bbc98"/>
    <ds:schemaRef ds:uri="54635187-68af-4f5f-8683-6ebd35fc84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C61CF7-A9B2-4343-8EC9-92827B53E71C}">
  <ds:schemaRefs>
    <ds:schemaRef ds:uri="http://schemas.microsoft.com/office/2006/metadata/properties"/>
    <ds:schemaRef ds:uri="http://schemas.microsoft.com/office/infopath/2007/PartnerControls"/>
    <ds:schemaRef ds:uri="54635187-68af-4f5f-8683-6ebd35fc842e"/>
    <ds:schemaRef ds:uri="607792bb-7e5d-42d7-b537-aadbed1bbc98"/>
  </ds:schemaRefs>
</ds:datastoreItem>
</file>

<file path=customXml/itemProps3.xml><?xml version="1.0" encoding="utf-8"?>
<ds:datastoreItem xmlns:ds="http://schemas.openxmlformats.org/officeDocument/2006/customXml" ds:itemID="{891811F3-7522-4495-A0F1-AB27F04C7D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19637</TotalTime>
  <Words>3773</Words>
  <Application>Microsoft Macintosh PowerPoint</Application>
  <PresentationFormat>Widescreen</PresentationFormat>
  <Paragraphs>395</Paragraphs>
  <Slides>32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System Font Regular</vt:lpstr>
      <vt:lpstr>Calibri</vt:lpstr>
      <vt:lpstr>Consolas</vt:lpstr>
      <vt:lpstr>6_Custom Design</vt:lpstr>
      <vt:lpstr>7_Custom Design</vt:lpstr>
      <vt:lpstr>8_Custom Design</vt:lpstr>
      <vt:lpstr>RNA-Seq analysis on Tufts HPC Part1 : HPC, Nextflow and nf-core</vt:lpstr>
      <vt:lpstr>Agenda</vt:lpstr>
      <vt:lpstr>Why Do We Need Clusters?</vt:lpstr>
      <vt:lpstr>PowerPoint Presentation</vt:lpstr>
      <vt:lpstr>The Key Components</vt:lpstr>
      <vt:lpstr>Connecting to Tufts HPC</vt:lpstr>
      <vt:lpstr>Two Ways to Access Tufts HPC</vt:lpstr>
      <vt:lpstr>What is SSH?</vt:lpstr>
      <vt:lpstr>Connecting via SSH</vt:lpstr>
      <vt:lpstr>The Login Node Rule</vt:lpstr>
      <vt:lpstr>Transferring Projects: rsync</vt:lpstr>
      <vt:lpstr>rsync: Upload and Download</vt:lpstr>
      <vt:lpstr>What is a Job?</vt:lpstr>
      <vt:lpstr>Interactive Job</vt:lpstr>
      <vt:lpstr>Key SLURM Commands</vt:lpstr>
      <vt:lpstr>Life cycle of a slurm job</vt:lpstr>
      <vt:lpstr>Slurm job script</vt:lpstr>
      <vt:lpstr>Compose a script with Open Composer</vt:lpstr>
      <vt:lpstr>Why biologist need workflow managers</vt:lpstr>
      <vt:lpstr>What is nextflow?</vt:lpstr>
      <vt:lpstr>Hello, nextflow</vt:lpstr>
      <vt:lpstr>-resume ·  the killer feature</vt:lpstr>
      <vt:lpstr>What is nf-core?</vt:lpstr>
      <vt:lpstr>The nf-core catalog </vt:lpstr>
      <vt:lpstr>Three ways to launch </vt:lpstr>
      <vt:lpstr>nf-core/rnaseq </vt:lpstr>
      <vt:lpstr>The samplesheet</vt:lpstr>
      <vt:lpstr>The parameters you'll actually set </vt:lpstr>
      <vt:lpstr>Putting it all together </vt:lpstr>
      <vt:lpstr>The MultiQC report  ·  your first stop </vt:lpstr>
      <vt:lpstr>rnaseq in a browser</vt:lpstr>
      <vt:lpstr>Data used in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Pham, Ann</dc:creator>
  <cp:lastModifiedBy>Zhang, Yucheng</cp:lastModifiedBy>
  <cp:revision>542</cp:revision>
  <dcterms:created xsi:type="dcterms:W3CDTF">2022-05-27T12:54:27Z</dcterms:created>
  <dcterms:modified xsi:type="dcterms:W3CDTF">2026-06-05T15:53:49Z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0x010100C7C9C41F272B604C8CC53D5F0D66DDC0</vt:lpwstr>
  </property>
</Properties>
</file>